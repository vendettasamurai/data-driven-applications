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0557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not another Python basics course. It is the first step toward making data science code usable as an application or workflow component. Point out that the Microsoft tools come later, but first we need to understand what we want to integrate.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starting with Python is both practical and professionally relevant. This session is not a language review; it is a shift in perspective. In later Power Apps and Power Automate sessions, the same ideas return: input, state, validation, output, responsibility.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brief orientation to the whole semester. Do not go into each week in detail. The key idea is that Python/SQL/API foundations come first, Microsoft low-code follows, and the final block integrates the two worlds. Emphasize that students can reconnect after an absence.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concrete success condition. The goal is not a perfect architecture, but a first working refactoring step in the right direction.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interactively: ask students for examples of prototype-like code. The goal is not to dismiss prototypes, but to understand the next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this is not a large architecture. We simply split the code into callable steps. Emphasize that an API or a flow will later need the same kind of structure.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context: this is not machine learning yet. It is a simple rule-based component. Later, this type of output will be useful for a Power Apps review screen or a Power Automate approval flow.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this is not a clean code lecture. We need these changes because later systems can only call code that is non-interactive, not manual, and not based on hidden state.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do not ban AI. Instead, require engineering responsibility. This should be a natural working mode from the first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lab, explain that students do not need to write the exact same internal solution, but the external contract must be respected. Function names and return keys matter because the tests and CLI depend on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minimum. The goal is that everyone can move on next week. Advanced tasks are optional and should not overcomplicate the shared part.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checklist for the shared closing. The exit ticket quickly shows whether students understand the responsibility side of AI-assisted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students who missed today can technically restart next week. Conceptually, today’s key terms return: input/output, validation, error path.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594360"/>
            <a:ext cx="10789920" cy="420624"/>
          </a:xfrm>
          <a:prstGeom prst="rect">
            <a:avLst/>
          </a:prstGeom>
          <a:noFill/>
          <a:ln/>
        </p:spPr>
        <p:txBody>
          <a:bodyPr wrap="square" lIns="0" tIns="0" rIns="0" bIns="0" rtlCol="0" anchor="ctr"/>
          <a:lstStyle/>
          <a:p>
            <a:pPr marL="0" indent="0">
              <a:buNone/>
            </a:pPr>
            <a:r>
              <a:rPr lang="en-US" sz="2000" b="1" dirty="0">
                <a:solidFill>
                  <a:srgbClr val="2B6CB0"/>
                </a:solidFill>
              </a:rPr>
              <a:t>Data-driven Application Development</a:t>
            </a:r>
            <a:endParaRPr lang="en-US" sz="2000" dirty="0"/>
          </a:p>
        </p:txBody>
      </p:sp>
      <p:sp>
        <p:nvSpPr>
          <p:cNvPr id="3" name="Text 1"/>
          <p:cNvSpPr/>
          <p:nvPr/>
        </p:nvSpPr>
        <p:spPr>
          <a:xfrm>
            <a:off x="594360" y="1234440"/>
            <a:ext cx="2011680" cy="384048"/>
          </a:xfrm>
          <a:prstGeom prst="rect">
            <a:avLst/>
          </a:prstGeom>
          <a:noFill/>
          <a:ln/>
        </p:spPr>
        <p:txBody>
          <a:bodyPr wrap="square" lIns="0" tIns="0" rIns="0" bIns="0" rtlCol="0" anchor="ctr"/>
          <a:lstStyle/>
          <a:p>
            <a:pPr marL="0" indent="0">
              <a:buNone/>
            </a:pPr>
            <a:r>
              <a:rPr lang="en-US" sz="2000" b="1" dirty="0">
                <a:solidFill>
                  <a:srgbClr val="0F766E"/>
                </a:solidFill>
              </a:rPr>
              <a:t>Week 1</a:t>
            </a:r>
            <a:endParaRPr lang="en-US" sz="2000" dirty="0"/>
          </a:p>
        </p:txBody>
      </p:sp>
      <p:sp>
        <p:nvSpPr>
          <p:cNvPr id="4" name="Text 2"/>
          <p:cNvSpPr/>
          <p:nvPr/>
        </p:nvSpPr>
        <p:spPr>
          <a:xfrm>
            <a:off x="594360" y="1691640"/>
            <a:ext cx="8229600" cy="1417320"/>
          </a:xfrm>
          <a:prstGeom prst="rect">
            <a:avLst/>
          </a:prstGeom>
          <a:noFill/>
          <a:ln/>
        </p:spPr>
        <p:txBody>
          <a:bodyPr wrap="square" lIns="254" tIns="254" rIns="254" bIns="254" rtlCol="0" anchor="ctr">
            <a:normAutofit/>
          </a:bodyPr>
          <a:lstStyle/>
          <a:p>
            <a:pPr marL="0" indent="0">
              <a:buNone/>
            </a:pPr>
            <a:r>
              <a:rPr lang="en-US" sz="3600" b="1" dirty="0">
                <a:solidFill>
                  <a:srgbClr val="1E2A44"/>
                </a:solidFill>
                <a:latin typeface="Aptos Display" pitchFamily="34" charset="0"/>
                <a:ea typeface="Aptos Display" pitchFamily="34" charset="-122"/>
                <a:cs typeface="Aptos Display" pitchFamily="34" charset="-120"/>
              </a:rPr>
              <a:t>Python: From analytical code</a:t>
            </a:r>
            <a:endParaRPr lang="en-US" sz="3600" dirty="0"/>
          </a:p>
          <a:p>
            <a:pPr marL="0" indent="0">
              <a:buNone/>
            </a:pPr>
            <a:r>
              <a:rPr lang="en-US" sz="3600" b="1" dirty="0">
                <a:solidFill>
                  <a:srgbClr val="1E2A44"/>
                </a:solidFill>
                <a:latin typeface="Aptos Display" pitchFamily="34" charset="0"/>
                <a:ea typeface="Aptos Display" pitchFamily="34" charset="-122"/>
                <a:cs typeface="Aptos Display" pitchFamily="34" charset="-120"/>
              </a:rPr>
              <a:t>to application component</a:t>
            </a:r>
            <a:endParaRPr lang="en-US" sz="3600" dirty="0"/>
          </a:p>
        </p:txBody>
      </p:sp>
      <p:sp>
        <p:nvSpPr>
          <p:cNvPr id="5" name="Text 3"/>
          <p:cNvSpPr/>
          <p:nvPr/>
        </p:nvSpPr>
        <p:spPr>
          <a:xfrm>
            <a:off x="621792" y="3337560"/>
            <a:ext cx="8869680" cy="292608"/>
          </a:xfrm>
          <a:prstGeom prst="rect">
            <a:avLst/>
          </a:prstGeom>
          <a:noFill/>
          <a:ln/>
        </p:spPr>
        <p:txBody>
          <a:bodyPr wrap="square" lIns="0" tIns="0" rIns="0" bIns="0" rtlCol="0" anchor="ctr"/>
          <a:lstStyle/>
          <a:p>
            <a:pPr marL="0" indent="0">
              <a:buNone/>
            </a:pPr>
            <a:r>
              <a:rPr lang="en-US" sz="1400" dirty="0">
                <a:solidFill>
                  <a:srgbClr val="4A5568"/>
                </a:solidFill>
              </a:rPr>
              <a:t>MSc Data Science • Python + AI assistant</a:t>
            </a:r>
            <a:endParaRPr lang="en-US" sz="1400" dirty="0"/>
          </a:p>
        </p:txBody>
      </p:sp>
      <p:sp>
        <p:nvSpPr>
          <p:cNvPr id="6" name="Shape 4"/>
          <p:cNvSpPr/>
          <p:nvPr/>
        </p:nvSpPr>
        <p:spPr>
          <a:xfrm>
            <a:off x="6995160" y="3977640"/>
            <a:ext cx="1417320" cy="566928"/>
          </a:xfrm>
          <a:prstGeom prst="roundRect">
            <a:avLst>
              <a:gd name="adj" fmla="val 12903"/>
            </a:avLst>
          </a:prstGeom>
          <a:solidFill>
            <a:srgbClr val="E6FFFA"/>
          </a:solidFill>
          <a:ln w="12700">
            <a:solidFill>
              <a:srgbClr val="CBD5E0">
                <a:alpha val="70000"/>
              </a:srgbClr>
            </a:solidFill>
            <a:prstDash val="solid"/>
          </a:ln>
        </p:spPr>
        <p:txBody>
          <a:bodyPr/>
          <a:lstStyle/>
          <a:p>
            <a:endParaRPr lang="hu-HU"/>
          </a:p>
        </p:txBody>
      </p:sp>
      <p:sp>
        <p:nvSpPr>
          <p:cNvPr id="7" name="Text 5"/>
          <p:cNvSpPr/>
          <p:nvPr/>
        </p:nvSpPr>
        <p:spPr>
          <a:xfrm>
            <a:off x="7123176" y="4087368"/>
            <a:ext cx="1161288" cy="347472"/>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notebook</a:t>
            </a:r>
            <a:endParaRPr lang="en-US" sz="1400" dirty="0"/>
          </a:p>
        </p:txBody>
      </p:sp>
      <p:sp>
        <p:nvSpPr>
          <p:cNvPr id="8" name="Shape 6"/>
          <p:cNvSpPr/>
          <p:nvPr/>
        </p:nvSpPr>
        <p:spPr>
          <a:xfrm>
            <a:off x="8503920" y="4261104"/>
            <a:ext cx="640080" cy="0"/>
          </a:xfrm>
          <a:prstGeom prst="line">
            <a:avLst/>
          </a:prstGeom>
          <a:noFill/>
          <a:ln w="25400">
            <a:solidFill>
              <a:srgbClr val="0F766E"/>
            </a:solidFill>
            <a:prstDash val="solid"/>
            <a:headEnd type="none"/>
            <a:tailEnd type="triangle"/>
          </a:ln>
        </p:spPr>
        <p:txBody>
          <a:bodyPr/>
          <a:lstStyle/>
          <a:p>
            <a:endParaRPr lang="hu-HU"/>
          </a:p>
        </p:txBody>
      </p:sp>
      <p:sp>
        <p:nvSpPr>
          <p:cNvPr id="9" name="Shape 7"/>
          <p:cNvSpPr/>
          <p:nvPr/>
        </p:nvSpPr>
        <p:spPr>
          <a:xfrm>
            <a:off x="9235440" y="3977640"/>
            <a:ext cx="1783080" cy="566928"/>
          </a:xfrm>
          <a:prstGeom prst="roundRect">
            <a:avLst>
              <a:gd name="adj" fmla="val 12903"/>
            </a:avLst>
          </a:prstGeom>
          <a:solidFill>
            <a:srgbClr val="EBF8FF"/>
          </a:solidFill>
          <a:ln w="12700">
            <a:solidFill>
              <a:srgbClr val="CBD5E0">
                <a:alpha val="70000"/>
              </a:srgbClr>
            </a:solidFill>
            <a:prstDash val="solid"/>
          </a:ln>
        </p:spPr>
        <p:txBody>
          <a:bodyPr/>
          <a:lstStyle/>
          <a:p>
            <a:endParaRPr lang="hu-HU"/>
          </a:p>
        </p:txBody>
      </p:sp>
      <p:sp>
        <p:nvSpPr>
          <p:cNvPr id="10" name="Text 8"/>
          <p:cNvSpPr/>
          <p:nvPr/>
        </p:nvSpPr>
        <p:spPr>
          <a:xfrm>
            <a:off x="9363456" y="4087368"/>
            <a:ext cx="1527048" cy="347472"/>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component</a:t>
            </a:r>
            <a:endParaRPr lang="en-US" sz="1400" dirty="0"/>
          </a:p>
        </p:txBody>
      </p:sp>
      <p:sp>
        <p:nvSpPr>
          <p:cNvPr id="11" name="Shape 9"/>
          <p:cNvSpPr/>
          <p:nvPr/>
        </p:nvSpPr>
        <p:spPr>
          <a:xfrm>
            <a:off x="10927080" y="4261104"/>
            <a:ext cx="548640" cy="0"/>
          </a:xfrm>
          <a:prstGeom prst="line">
            <a:avLst/>
          </a:prstGeom>
          <a:noFill/>
          <a:ln w="25400">
            <a:solidFill>
              <a:srgbClr val="0F766E"/>
            </a:solidFill>
            <a:prstDash val="solid"/>
            <a:headEnd type="none"/>
            <a:tailEnd type="triangle"/>
          </a:ln>
        </p:spPr>
        <p:txBody>
          <a:bodyPr/>
          <a:lstStyle/>
          <a:p>
            <a:endParaRPr lang="hu-HU"/>
          </a:p>
        </p:txBody>
      </p:sp>
      <p:sp>
        <p:nvSpPr>
          <p:cNvPr id="12" name="Shape 10"/>
          <p:cNvSpPr/>
          <p:nvPr/>
        </p:nvSpPr>
        <p:spPr>
          <a:xfrm>
            <a:off x="9235440" y="4892040"/>
            <a:ext cx="1783080" cy="566928"/>
          </a:xfrm>
          <a:prstGeom prst="roundRect">
            <a:avLst>
              <a:gd name="adj" fmla="val 12903"/>
            </a:avLst>
          </a:prstGeom>
          <a:solidFill>
            <a:srgbClr val="FFF5F5"/>
          </a:solidFill>
          <a:ln w="12700">
            <a:solidFill>
              <a:srgbClr val="CBD5E0">
                <a:alpha val="70000"/>
              </a:srgbClr>
            </a:solidFill>
            <a:prstDash val="solid"/>
          </a:ln>
        </p:spPr>
        <p:txBody>
          <a:bodyPr/>
          <a:lstStyle/>
          <a:p>
            <a:endParaRPr lang="hu-HU"/>
          </a:p>
        </p:txBody>
      </p:sp>
      <p:sp>
        <p:nvSpPr>
          <p:cNvPr id="13" name="Text 11"/>
          <p:cNvSpPr/>
          <p:nvPr/>
        </p:nvSpPr>
        <p:spPr>
          <a:xfrm>
            <a:off x="9363456" y="5001768"/>
            <a:ext cx="1527048" cy="347472"/>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system</a:t>
            </a:r>
            <a:endParaRPr lang="en-US" sz="1400" dirty="0"/>
          </a:p>
        </p:txBody>
      </p:sp>
      <p:sp>
        <p:nvSpPr>
          <p:cNvPr id="14" name="Shape 12"/>
          <p:cNvSpPr/>
          <p:nvPr/>
        </p:nvSpPr>
        <p:spPr>
          <a:xfrm>
            <a:off x="10122408" y="4572000"/>
            <a:ext cx="0" cy="274320"/>
          </a:xfrm>
          <a:prstGeom prst="line">
            <a:avLst/>
          </a:prstGeom>
          <a:noFill/>
          <a:ln w="25400">
            <a:solidFill>
              <a:srgbClr val="0F766E"/>
            </a:solidFill>
            <a:prstDash val="solid"/>
            <a:headEnd type="none"/>
            <a:tailEnd type="triangle"/>
          </a:ln>
        </p:spPr>
        <p:txBody>
          <a:bodyPr/>
          <a:lstStyle/>
          <a:p>
            <a:endParaRPr lang="hu-HU"/>
          </a:p>
        </p:txBody>
      </p:sp>
      <p:sp>
        <p:nvSpPr>
          <p:cNvPr id="16" name="Text 13"/>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Why start with Python?</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This is not product training: first we clarify what makes code integrable.</a:t>
            </a:r>
            <a:endParaRPr lang="en-US" sz="1150" dirty="0"/>
          </a:p>
        </p:txBody>
      </p:sp>
      <p:sp>
        <p:nvSpPr>
          <p:cNvPr id="4" name="Shape 2"/>
          <p:cNvSpPr/>
          <p:nvPr/>
        </p:nvSpPr>
        <p:spPr>
          <a:xfrm>
            <a:off x="731520" y="1600200"/>
            <a:ext cx="2468880" cy="914400"/>
          </a:xfrm>
          <a:prstGeom prst="roundRect">
            <a:avLst>
              <a:gd name="adj" fmla="val 8000"/>
            </a:avLst>
          </a:prstGeom>
          <a:solidFill>
            <a:srgbClr val="E6FFFA"/>
          </a:solidFill>
          <a:ln w="12700">
            <a:solidFill>
              <a:srgbClr val="CBD5E0">
                <a:alpha val="70000"/>
              </a:srgbClr>
            </a:solidFill>
            <a:prstDash val="solid"/>
          </a:ln>
        </p:spPr>
        <p:txBody>
          <a:bodyPr/>
          <a:lstStyle/>
          <a:p>
            <a:endParaRPr lang="hu-HU"/>
          </a:p>
        </p:txBody>
      </p:sp>
      <p:sp>
        <p:nvSpPr>
          <p:cNvPr id="5" name="Text 3"/>
          <p:cNvSpPr/>
          <p:nvPr/>
        </p:nvSpPr>
        <p:spPr>
          <a:xfrm>
            <a:off x="859536" y="1709928"/>
            <a:ext cx="2212848" cy="694944"/>
          </a:xfrm>
          <a:prstGeom prst="rect">
            <a:avLst/>
          </a:prstGeom>
          <a:noFill/>
          <a:ln/>
        </p:spPr>
        <p:txBody>
          <a:bodyPr wrap="square" lIns="254" tIns="254" rIns="254" bIns="254" rtlCol="0" anchor="ctr">
            <a:normAutofit/>
          </a:bodyPr>
          <a:lstStyle/>
          <a:p>
            <a:pPr marL="0" indent="0" algn="ctr">
              <a:buNone/>
            </a:pPr>
            <a:r>
              <a:rPr lang="en-US" sz="1500" b="1" dirty="0">
                <a:solidFill>
                  <a:srgbClr val="1A202C"/>
                </a:solidFill>
              </a:rPr>
              <a:t>Familiar ground</a:t>
            </a:r>
            <a:endParaRPr lang="en-US" sz="1500" dirty="0"/>
          </a:p>
          <a:p>
            <a:pPr marL="0" indent="0" algn="ctr">
              <a:buNone/>
            </a:pPr>
            <a:r>
              <a:rPr lang="en-US" sz="1500" b="1" dirty="0">
                <a:solidFill>
                  <a:srgbClr val="1A202C"/>
                </a:solidFill>
              </a:rPr>
              <a:t>for MSc DS students</a:t>
            </a:r>
            <a:endParaRPr lang="en-US" sz="1500" dirty="0"/>
          </a:p>
        </p:txBody>
      </p:sp>
      <p:sp>
        <p:nvSpPr>
          <p:cNvPr id="6" name="Shape 4"/>
          <p:cNvSpPr/>
          <p:nvPr/>
        </p:nvSpPr>
        <p:spPr>
          <a:xfrm>
            <a:off x="3703320" y="1600200"/>
            <a:ext cx="2468880" cy="914400"/>
          </a:xfrm>
          <a:prstGeom prst="roundRect">
            <a:avLst>
              <a:gd name="adj" fmla="val 8000"/>
            </a:avLst>
          </a:prstGeom>
          <a:solidFill>
            <a:srgbClr val="EBF8FF"/>
          </a:solidFill>
          <a:ln w="12700">
            <a:solidFill>
              <a:srgbClr val="CBD5E0">
                <a:alpha val="70000"/>
              </a:srgbClr>
            </a:solidFill>
            <a:prstDash val="solid"/>
          </a:ln>
        </p:spPr>
        <p:txBody>
          <a:bodyPr/>
          <a:lstStyle/>
          <a:p>
            <a:endParaRPr lang="hu-HU"/>
          </a:p>
        </p:txBody>
      </p:sp>
      <p:sp>
        <p:nvSpPr>
          <p:cNvPr id="7" name="Text 5"/>
          <p:cNvSpPr/>
          <p:nvPr/>
        </p:nvSpPr>
        <p:spPr>
          <a:xfrm>
            <a:off x="3831336" y="1709928"/>
            <a:ext cx="2212848" cy="694944"/>
          </a:xfrm>
          <a:prstGeom prst="rect">
            <a:avLst/>
          </a:prstGeom>
          <a:noFill/>
          <a:ln/>
        </p:spPr>
        <p:txBody>
          <a:bodyPr wrap="square" lIns="254" tIns="254" rIns="254" bIns="254" rtlCol="0" anchor="ctr">
            <a:normAutofit/>
          </a:bodyPr>
          <a:lstStyle/>
          <a:p>
            <a:pPr marL="0" indent="0" algn="ctr">
              <a:buNone/>
            </a:pPr>
            <a:r>
              <a:rPr lang="en-US" sz="1500" b="1" dirty="0">
                <a:solidFill>
                  <a:srgbClr val="1A202C"/>
                </a:solidFill>
              </a:rPr>
              <a:t>Clear input/output</a:t>
            </a:r>
            <a:endParaRPr lang="en-US" sz="1500" dirty="0"/>
          </a:p>
          <a:p>
            <a:pPr marL="0" indent="0" algn="ctr">
              <a:buNone/>
            </a:pPr>
            <a:r>
              <a:rPr lang="en-US" sz="1500" b="1" dirty="0">
                <a:solidFill>
                  <a:srgbClr val="1A202C"/>
                </a:solidFill>
              </a:rPr>
              <a:t>thinking</a:t>
            </a:r>
            <a:endParaRPr lang="en-US" sz="1500" dirty="0"/>
          </a:p>
        </p:txBody>
      </p:sp>
      <p:sp>
        <p:nvSpPr>
          <p:cNvPr id="8" name="Shape 6"/>
          <p:cNvSpPr/>
          <p:nvPr/>
        </p:nvSpPr>
        <p:spPr>
          <a:xfrm>
            <a:off x="6675120" y="1600200"/>
            <a:ext cx="2468880" cy="914400"/>
          </a:xfrm>
          <a:prstGeom prst="roundRect">
            <a:avLst>
              <a:gd name="adj" fmla="val 8000"/>
            </a:avLst>
          </a:prstGeom>
          <a:solidFill>
            <a:srgbClr val="FEFCBF"/>
          </a:solidFill>
          <a:ln w="12700">
            <a:solidFill>
              <a:srgbClr val="CBD5E0">
                <a:alpha val="70000"/>
              </a:srgbClr>
            </a:solidFill>
            <a:prstDash val="solid"/>
          </a:ln>
        </p:spPr>
        <p:txBody>
          <a:bodyPr/>
          <a:lstStyle/>
          <a:p>
            <a:endParaRPr lang="hu-HU"/>
          </a:p>
        </p:txBody>
      </p:sp>
      <p:sp>
        <p:nvSpPr>
          <p:cNvPr id="9" name="Text 7"/>
          <p:cNvSpPr/>
          <p:nvPr/>
        </p:nvSpPr>
        <p:spPr>
          <a:xfrm>
            <a:off x="6803136" y="1709928"/>
            <a:ext cx="2212848" cy="6949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Later APIs, flows, and apps</a:t>
            </a:r>
            <a:endParaRPr lang="en-US" sz="1400" dirty="0"/>
          </a:p>
          <a:p>
            <a:pPr marL="0" indent="0" algn="ctr">
              <a:buNone/>
            </a:pPr>
            <a:r>
              <a:rPr lang="en-US" sz="1400" b="1" dirty="0">
                <a:solidFill>
                  <a:srgbClr val="1A202C"/>
                </a:solidFill>
              </a:rPr>
              <a:t>call the same logic</a:t>
            </a:r>
            <a:endParaRPr lang="en-US" sz="1400" dirty="0"/>
          </a:p>
        </p:txBody>
      </p:sp>
      <p:sp>
        <p:nvSpPr>
          <p:cNvPr id="10" name="Shape 8"/>
          <p:cNvSpPr/>
          <p:nvPr/>
        </p:nvSpPr>
        <p:spPr>
          <a:xfrm>
            <a:off x="9646920" y="1600200"/>
            <a:ext cx="1828800" cy="914400"/>
          </a:xfrm>
          <a:prstGeom prst="roundRect">
            <a:avLst>
              <a:gd name="adj" fmla="val 8000"/>
            </a:avLst>
          </a:prstGeom>
          <a:solidFill>
            <a:srgbClr val="FEEBC8"/>
          </a:solidFill>
          <a:ln w="12700">
            <a:solidFill>
              <a:srgbClr val="CBD5E0">
                <a:alpha val="70000"/>
              </a:srgbClr>
            </a:solidFill>
            <a:prstDash val="solid"/>
          </a:ln>
        </p:spPr>
        <p:txBody>
          <a:bodyPr/>
          <a:lstStyle/>
          <a:p>
            <a:endParaRPr lang="hu-HU"/>
          </a:p>
        </p:txBody>
      </p:sp>
      <p:sp>
        <p:nvSpPr>
          <p:cNvPr id="11" name="Text 9"/>
          <p:cNvSpPr/>
          <p:nvPr/>
        </p:nvSpPr>
        <p:spPr>
          <a:xfrm>
            <a:off x="9774936" y="1709928"/>
            <a:ext cx="1572768" cy="694944"/>
          </a:xfrm>
          <a:prstGeom prst="rect">
            <a:avLst/>
          </a:prstGeom>
          <a:noFill/>
          <a:ln/>
        </p:spPr>
        <p:txBody>
          <a:bodyPr wrap="square" lIns="254" tIns="254" rIns="254" bIns="254" rtlCol="0" anchor="ctr">
            <a:normAutofit/>
          </a:bodyPr>
          <a:lstStyle/>
          <a:p>
            <a:pPr marL="0" indent="0" algn="ctr">
              <a:buNone/>
            </a:pPr>
            <a:r>
              <a:rPr lang="en-US" sz="1350" b="1" dirty="0">
                <a:solidFill>
                  <a:srgbClr val="1A202C"/>
                </a:solidFill>
              </a:rPr>
              <a:t>AI assistant</a:t>
            </a:r>
            <a:endParaRPr lang="en-US" sz="1350" dirty="0"/>
          </a:p>
          <a:p>
            <a:pPr marL="0" indent="0" algn="ctr">
              <a:buNone/>
            </a:pPr>
            <a:r>
              <a:rPr lang="en-US" sz="1350" b="1" dirty="0">
                <a:solidFill>
                  <a:srgbClr val="1A202C"/>
                </a:solidFill>
              </a:rPr>
              <a:t>from the first session</a:t>
            </a:r>
            <a:endParaRPr lang="en-US" sz="1350" dirty="0"/>
          </a:p>
        </p:txBody>
      </p:sp>
      <p:sp>
        <p:nvSpPr>
          <p:cNvPr id="12" name="Shape 10"/>
          <p:cNvSpPr/>
          <p:nvPr/>
        </p:nvSpPr>
        <p:spPr>
          <a:xfrm>
            <a:off x="1993392" y="2834640"/>
            <a:ext cx="0" cy="1005840"/>
          </a:xfrm>
          <a:prstGeom prst="line">
            <a:avLst/>
          </a:prstGeom>
          <a:noFill/>
          <a:ln w="25400">
            <a:solidFill>
              <a:srgbClr val="0F766E"/>
            </a:solidFill>
            <a:prstDash val="solid"/>
            <a:headEnd type="none"/>
            <a:tailEnd type="triangle"/>
          </a:ln>
        </p:spPr>
        <p:txBody>
          <a:bodyPr/>
          <a:lstStyle/>
          <a:p>
            <a:endParaRPr lang="hu-HU"/>
          </a:p>
        </p:txBody>
      </p:sp>
      <p:sp>
        <p:nvSpPr>
          <p:cNvPr id="13" name="Shape 11"/>
          <p:cNvSpPr/>
          <p:nvPr/>
        </p:nvSpPr>
        <p:spPr>
          <a:xfrm>
            <a:off x="4965192" y="2834640"/>
            <a:ext cx="0" cy="1005840"/>
          </a:xfrm>
          <a:prstGeom prst="line">
            <a:avLst/>
          </a:prstGeom>
          <a:noFill/>
          <a:ln w="25400">
            <a:solidFill>
              <a:srgbClr val="0F766E"/>
            </a:solidFill>
            <a:prstDash val="solid"/>
            <a:headEnd type="none"/>
            <a:tailEnd type="triangle"/>
          </a:ln>
        </p:spPr>
        <p:txBody>
          <a:bodyPr/>
          <a:lstStyle/>
          <a:p>
            <a:endParaRPr lang="hu-HU"/>
          </a:p>
        </p:txBody>
      </p:sp>
      <p:sp>
        <p:nvSpPr>
          <p:cNvPr id="14" name="Shape 12"/>
          <p:cNvSpPr/>
          <p:nvPr/>
        </p:nvSpPr>
        <p:spPr>
          <a:xfrm>
            <a:off x="7936992" y="2834640"/>
            <a:ext cx="0" cy="1005840"/>
          </a:xfrm>
          <a:prstGeom prst="line">
            <a:avLst/>
          </a:prstGeom>
          <a:noFill/>
          <a:ln w="25400">
            <a:solidFill>
              <a:srgbClr val="0F766E"/>
            </a:solidFill>
            <a:prstDash val="solid"/>
            <a:headEnd type="none"/>
            <a:tailEnd type="triangle"/>
          </a:ln>
        </p:spPr>
        <p:txBody>
          <a:bodyPr/>
          <a:lstStyle/>
          <a:p>
            <a:endParaRPr lang="hu-HU"/>
          </a:p>
        </p:txBody>
      </p:sp>
      <p:sp>
        <p:nvSpPr>
          <p:cNvPr id="15" name="Shape 13"/>
          <p:cNvSpPr/>
          <p:nvPr/>
        </p:nvSpPr>
        <p:spPr>
          <a:xfrm>
            <a:off x="10561320" y="2834640"/>
            <a:ext cx="0" cy="1005840"/>
          </a:xfrm>
          <a:prstGeom prst="line">
            <a:avLst/>
          </a:prstGeom>
          <a:noFill/>
          <a:ln w="25400">
            <a:solidFill>
              <a:srgbClr val="0F766E"/>
            </a:solidFill>
            <a:prstDash val="solid"/>
            <a:headEnd type="none"/>
            <a:tailEnd type="triangle"/>
          </a:ln>
        </p:spPr>
        <p:txBody>
          <a:bodyPr/>
          <a:lstStyle/>
          <a:p>
            <a:endParaRPr lang="hu-HU"/>
          </a:p>
        </p:txBody>
      </p:sp>
      <p:sp>
        <p:nvSpPr>
          <p:cNvPr id="16" name="Text 14"/>
          <p:cNvSpPr/>
          <p:nvPr/>
        </p:nvSpPr>
        <p:spPr>
          <a:xfrm>
            <a:off x="731520" y="3977640"/>
            <a:ext cx="2834640" cy="320040"/>
          </a:xfrm>
          <a:prstGeom prst="rect">
            <a:avLst/>
          </a:prstGeom>
          <a:noFill/>
          <a:ln/>
        </p:spPr>
        <p:txBody>
          <a:bodyPr wrap="square" lIns="0" tIns="0" rIns="0" bIns="0" rtlCol="0" anchor="ctr"/>
          <a:lstStyle/>
          <a:p>
            <a:pPr marL="0" indent="0">
              <a:buNone/>
            </a:pPr>
            <a:r>
              <a:rPr lang="en-US" sz="1500" b="1" dirty="0">
                <a:solidFill>
                  <a:srgbClr val="1E2A44"/>
                </a:solidFill>
              </a:rPr>
              <a:t>Today’s message</a:t>
            </a:r>
            <a:endParaRPr lang="en-US" sz="1500" dirty="0"/>
          </a:p>
        </p:txBody>
      </p:sp>
      <p:sp>
        <p:nvSpPr>
          <p:cNvPr id="17" name="Text 15"/>
          <p:cNvSpPr/>
          <p:nvPr/>
        </p:nvSpPr>
        <p:spPr>
          <a:xfrm>
            <a:off x="731520" y="4434840"/>
            <a:ext cx="10607040" cy="777240"/>
          </a:xfrm>
          <a:prstGeom prst="rect">
            <a:avLst/>
          </a:prstGeom>
          <a:noFill/>
          <a:ln/>
        </p:spPr>
        <p:txBody>
          <a:bodyPr wrap="square" lIns="381" tIns="381" rIns="381" bIns="381" rtlCol="0" anchor="ctr">
            <a:normAutofit/>
          </a:bodyPr>
          <a:lstStyle/>
          <a:p>
            <a:pPr marL="0" indent="0">
              <a:buNone/>
            </a:pPr>
            <a:r>
              <a:rPr lang="en-US" sz="2100" b="1" dirty="0">
                <a:solidFill>
                  <a:srgbClr val="1A202C"/>
                </a:solidFill>
              </a:rPr>
              <a:t>Code that works in a notebook is not yet an application component.</a:t>
            </a:r>
            <a:endParaRPr lang="en-US" sz="2100" dirty="0"/>
          </a:p>
          <a:p>
            <a:pPr marL="0" indent="0">
              <a:buNone/>
            </a:pPr>
            <a:r>
              <a:rPr lang="en-US" sz="2100" b="1" dirty="0">
                <a:solidFill>
                  <a:srgbClr val="1A202C"/>
                </a:solidFill>
              </a:rPr>
              <a:t>A component has a contract: input, output, error path, verification.</a:t>
            </a:r>
            <a:endParaRPr lang="en-US" sz="2100" dirty="0"/>
          </a:p>
        </p:txBody>
      </p:sp>
      <p:sp>
        <p:nvSpPr>
          <p:cNvPr id="19" name="Text 16"/>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The semester in one slide</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Related modules, but not fragile dependencies.</a:t>
            </a:r>
            <a:endParaRPr lang="en-US" sz="1150" dirty="0"/>
          </a:p>
        </p:txBody>
      </p:sp>
      <p:sp>
        <p:nvSpPr>
          <p:cNvPr id="4" name="Shape 2"/>
          <p:cNvSpPr/>
          <p:nvPr/>
        </p:nvSpPr>
        <p:spPr>
          <a:xfrm>
            <a:off x="731520" y="1828800"/>
            <a:ext cx="1965960" cy="1170432"/>
          </a:xfrm>
          <a:prstGeom prst="roundRect">
            <a:avLst>
              <a:gd name="adj" fmla="val 6250"/>
            </a:avLst>
          </a:prstGeom>
          <a:solidFill>
            <a:srgbClr val="E6FFFA"/>
          </a:solidFill>
          <a:ln w="12700">
            <a:solidFill>
              <a:srgbClr val="CBD5E0">
                <a:alpha val="70000"/>
              </a:srgbClr>
            </a:solidFill>
            <a:prstDash val="solid"/>
          </a:ln>
        </p:spPr>
        <p:txBody>
          <a:bodyPr/>
          <a:lstStyle/>
          <a:p>
            <a:endParaRPr lang="hu-HU"/>
          </a:p>
        </p:txBody>
      </p:sp>
      <p:sp>
        <p:nvSpPr>
          <p:cNvPr id="5" name="Text 3"/>
          <p:cNvSpPr/>
          <p:nvPr/>
        </p:nvSpPr>
        <p:spPr>
          <a:xfrm>
            <a:off x="859536" y="1938528"/>
            <a:ext cx="1709928" cy="950976"/>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1–3</a:t>
            </a:r>
            <a:endParaRPr lang="en-US" sz="1150" dirty="0"/>
          </a:p>
          <a:p>
            <a:pPr marL="0" indent="0" algn="ctr">
              <a:buNone/>
            </a:pPr>
            <a:r>
              <a:rPr lang="en-US" sz="1150" b="1" dirty="0">
                <a:solidFill>
                  <a:srgbClr val="1A202C"/>
                </a:solidFill>
              </a:rPr>
              <a:t>Python • API • LLM API</a:t>
            </a:r>
            <a:endParaRPr lang="en-US" sz="1150" dirty="0"/>
          </a:p>
          <a:p>
            <a:pPr marL="0" indent="0" algn="ctr">
              <a:buNone/>
            </a:pPr>
            <a:r>
              <a:rPr lang="en-US" sz="1150" b="1" dirty="0">
                <a:solidFill>
                  <a:srgbClr val="1A202C"/>
                </a:solidFill>
              </a:rPr>
              <a:t>Custom processing</a:t>
            </a:r>
            <a:endParaRPr lang="en-US" sz="1150" dirty="0"/>
          </a:p>
        </p:txBody>
      </p:sp>
      <p:sp>
        <p:nvSpPr>
          <p:cNvPr id="6" name="Shape 4"/>
          <p:cNvSpPr/>
          <p:nvPr/>
        </p:nvSpPr>
        <p:spPr>
          <a:xfrm>
            <a:off x="2697480" y="2414016"/>
            <a:ext cx="365760" cy="0"/>
          </a:xfrm>
          <a:prstGeom prst="line">
            <a:avLst/>
          </a:prstGeom>
          <a:noFill/>
          <a:ln w="25400">
            <a:solidFill>
              <a:srgbClr val="4A5568"/>
            </a:solidFill>
            <a:prstDash val="solid"/>
            <a:headEnd type="none"/>
            <a:tailEnd type="triangle"/>
          </a:ln>
        </p:spPr>
        <p:txBody>
          <a:bodyPr/>
          <a:lstStyle/>
          <a:p>
            <a:endParaRPr lang="hu-HU"/>
          </a:p>
        </p:txBody>
      </p:sp>
      <p:sp>
        <p:nvSpPr>
          <p:cNvPr id="7" name="Shape 5"/>
          <p:cNvSpPr/>
          <p:nvPr/>
        </p:nvSpPr>
        <p:spPr>
          <a:xfrm>
            <a:off x="3063240" y="1828800"/>
            <a:ext cx="1965960" cy="1170432"/>
          </a:xfrm>
          <a:prstGeom prst="roundRect">
            <a:avLst>
              <a:gd name="adj" fmla="val 6250"/>
            </a:avLst>
          </a:prstGeom>
          <a:solidFill>
            <a:srgbClr val="EBF8FF"/>
          </a:solidFill>
          <a:ln w="12700">
            <a:solidFill>
              <a:srgbClr val="CBD5E0">
                <a:alpha val="70000"/>
              </a:srgbClr>
            </a:solidFill>
            <a:prstDash val="solid"/>
          </a:ln>
        </p:spPr>
        <p:txBody>
          <a:bodyPr/>
          <a:lstStyle/>
          <a:p>
            <a:endParaRPr lang="hu-HU"/>
          </a:p>
        </p:txBody>
      </p:sp>
      <p:sp>
        <p:nvSpPr>
          <p:cNvPr id="8" name="Text 6"/>
          <p:cNvSpPr/>
          <p:nvPr/>
        </p:nvSpPr>
        <p:spPr>
          <a:xfrm>
            <a:off x="3191256" y="1938528"/>
            <a:ext cx="1709928" cy="950976"/>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4–5</a:t>
            </a:r>
            <a:endParaRPr lang="en-US" sz="1150" dirty="0"/>
          </a:p>
          <a:p>
            <a:pPr marL="0" indent="0" algn="ctr">
              <a:buNone/>
            </a:pPr>
            <a:r>
              <a:rPr lang="en-US" sz="1150" b="1" dirty="0">
                <a:solidFill>
                  <a:srgbClr val="1A202C"/>
                </a:solidFill>
              </a:rPr>
              <a:t>SQL • DuckDB/SQLite</a:t>
            </a:r>
            <a:endParaRPr lang="en-US" sz="1150" dirty="0"/>
          </a:p>
          <a:p>
            <a:pPr marL="0" indent="0" algn="ctr">
              <a:buNone/>
            </a:pPr>
            <a:r>
              <a:rPr lang="en-US" sz="1150" b="1" dirty="0">
                <a:solidFill>
                  <a:srgbClr val="1A202C"/>
                </a:solidFill>
              </a:rPr>
              <a:t>Data model and transformation</a:t>
            </a:r>
            <a:endParaRPr lang="en-US" sz="1150" dirty="0"/>
          </a:p>
        </p:txBody>
      </p:sp>
      <p:sp>
        <p:nvSpPr>
          <p:cNvPr id="9" name="Shape 7"/>
          <p:cNvSpPr/>
          <p:nvPr/>
        </p:nvSpPr>
        <p:spPr>
          <a:xfrm>
            <a:off x="5029200" y="2414016"/>
            <a:ext cx="365760" cy="0"/>
          </a:xfrm>
          <a:prstGeom prst="line">
            <a:avLst/>
          </a:prstGeom>
          <a:noFill/>
          <a:ln w="25400">
            <a:solidFill>
              <a:srgbClr val="4A5568"/>
            </a:solidFill>
            <a:prstDash val="solid"/>
            <a:headEnd type="none"/>
            <a:tailEnd type="triangle"/>
          </a:ln>
        </p:spPr>
        <p:txBody>
          <a:bodyPr/>
          <a:lstStyle/>
          <a:p>
            <a:endParaRPr lang="hu-HU"/>
          </a:p>
        </p:txBody>
      </p:sp>
      <p:sp>
        <p:nvSpPr>
          <p:cNvPr id="10" name="Shape 8"/>
          <p:cNvSpPr/>
          <p:nvPr/>
        </p:nvSpPr>
        <p:spPr>
          <a:xfrm>
            <a:off x="5394960" y="1828800"/>
            <a:ext cx="1965960" cy="1170432"/>
          </a:xfrm>
          <a:prstGeom prst="roundRect">
            <a:avLst>
              <a:gd name="adj" fmla="val 6250"/>
            </a:avLst>
          </a:prstGeom>
          <a:solidFill>
            <a:srgbClr val="FEFCBF"/>
          </a:solidFill>
          <a:ln w="12700">
            <a:solidFill>
              <a:srgbClr val="CBD5E0">
                <a:alpha val="70000"/>
              </a:srgbClr>
            </a:solidFill>
            <a:prstDash val="solid"/>
          </a:ln>
        </p:spPr>
        <p:txBody>
          <a:bodyPr/>
          <a:lstStyle/>
          <a:p>
            <a:endParaRPr lang="hu-HU"/>
          </a:p>
        </p:txBody>
      </p:sp>
      <p:sp>
        <p:nvSpPr>
          <p:cNvPr id="11" name="Text 9"/>
          <p:cNvSpPr/>
          <p:nvPr/>
        </p:nvSpPr>
        <p:spPr>
          <a:xfrm>
            <a:off x="5522976" y="1938528"/>
            <a:ext cx="1709928" cy="950976"/>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6–7</a:t>
            </a:r>
            <a:endParaRPr lang="en-US" sz="1150" dirty="0"/>
          </a:p>
          <a:p>
            <a:pPr marL="0" indent="0" algn="ctr">
              <a:buNone/>
            </a:pPr>
            <a:r>
              <a:rPr lang="en-US" sz="1150" b="1" dirty="0">
                <a:solidFill>
                  <a:srgbClr val="1A202C"/>
                </a:solidFill>
              </a:rPr>
              <a:t>Power Apps • Lists</a:t>
            </a:r>
            <a:endParaRPr lang="en-US" sz="1150" dirty="0"/>
          </a:p>
          <a:p>
            <a:pPr marL="0" indent="0" algn="ctr">
              <a:buNone/>
            </a:pPr>
            <a:r>
              <a:rPr lang="en-US" sz="1150" b="1" dirty="0">
                <a:solidFill>
                  <a:srgbClr val="1A202C"/>
                </a:solidFill>
              </a:rPr>
              <a:t>Low-code data app</a:t>
            </a:r>
            <a:endParaRPr lang="en-US" sz="1150" dirty="0"/>
          </a:p>
        </p:txBody>
      </p:sp>
      <p:sp>
        <p:nvSpPr>
          <p:cNvPr id="12" name="Shape 10"/>
          <p:cNvSpPr/>
          <p:nvPr/>
        </p:nvSpPr>
        <p:spPr>
          <a:xfrm>
            <a:off x="7360920" y="2414016"/>
            <a:ext cx="365760" cy="0"/>
          </a:xfrm>
          <a:prstGeom prst="line">
            <a:avLst/>
          </a:prstGeom>
          <a:noFill/>
          <a:ln w="25400">
            <a:solidFill>
              <a:srgbClr val="4A5568"/>
            </a:solidFill>
            <a:prstDash val="solid"/>
            <a:headEnd type="none"/>
            <a:tailEnd type="triangle"/>
          </a:ln>
        </p:spPr>
        <p:txBody>
          <a:bodyPr/>
          <a:lstStyle/>
          <a:p>
            <a:endParaRPr lang="hu-HU"/>
          </a:p>
        </p:txBody>
      </p:sp>
      <p:sp>
        <p:nvSpPr>
          <p:cNvPr id="13" name="Shape 11"/>
          <p:cNvSpPr/>
          <p:nvPr/>
        </p:nvSpPr>
        <p:spPr>
          <a:xfrm>
            <a:off x="7726680" y="1828800"/>
            <a:ext cx="1965960" cy="1170432"/>
          </a:xfrm>
          <a:prstGeom prst="roundRect">
            <a:avLst>
              <a:gd name="adj" fmla="val 6250"/>
            </a:avLst>
          </a:prstGeom>
          <a:solidFill>
            <a:srgbClr val="FEEBC8"/>
          </a:solidFill>
          <a:ln w="12700">
            <a:solidFill>
              <a:srgbClr val="CBD5E0">
                <a:alpha val="70000"/>
              </a:srgbClr>
            </a:solidFill>
            <a:prstDash val="solid"/>
          </a:ln>
        </p:spPr>
        <p:txBody>
          <a:bodyPr/>
          <a:lstStyle/>
          <a:p>
            <a:endParaRPr lang="hu-HU"/>
          </a:p>
        </p:txBody>
      </p:sp>
      <p:sp>
        <p:nvSpPr>
          <p:cNvPr id="14" name="Text 12"/>
          <p:cNvSpPr/>
          <p:nvPr/>
        </p:nvSpPr>
        <p:spPr>
          <a:xfrm>
            <a:off x="7854696" y="1938528"/>
            <a:ext cx="1709928" cy="950976"/>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8–10</a:t>
            </a:r>
            <a:endParaRPr lang="en-US" sz="1150" dirty="0"/>
          </a:p>
          <a:p>
            <a:pPr marL="0" indent="0" algn="ctr">
              <a:buNone/>
            </a:pPr>
            <a:r>
              <a:rPr lang="en-US" sz="1150" b="1" dirty="0">
                <a:solidFill>
                  <a:srgbClr val="1A202C"/>
                </a:solidFill>
              </a:rPr>
              <a:t>Power Automate</a:t>
            </a:r>
            <a:endParaRPr lang="en-US" sz="1150" dirty="0"/>
          </a:p>
          <a:p>
            <a:pPr marL="0" indent="0" algn="ctr">
              <a:buNone/>
            </a:pPr>
            <a:r>
              <a:rPr lang="en-US" sz="1150" b="1" dirty="0">
                <a:solidFill>
                  <a:srgbClr val="1A202C"/>
                </a:solidFill>
              </a:rPr>
              <a:t>Automation and approval</a:t>
            </a:r>
            <a:endParaRPr lang="en-US" sz="1150" dirty="0"/>
          </a:p>
        </p:txBody>
      </p:sp>
      <p:sp>
        <p:nvSpPr>
          <p:cNvPr id="15" name="Shape 13"/>
          <p:cNvSpPr/>
          <p:nvPr/>
        </p:nvSpPr>
        <p:spPr>
          <a:xfrm>
            <a:off x="9692640" y="2414016"/>
            <a:ext cx="365760" cy="0"/>
          </a:xfrm>
          <a:prstGeom prst="line">
            <a:avLst/>
          </a:prstGeom>
          <a:noFill/>
          <a:ln w="25400">
            <a:solidFill>
              <a:srgbClr val="4A5568"/>
            </a:solidFill>
            <a:prstDash val="solid"/>
            <a:headEnd type="none"/>
            <a:tailEnd type="triangle"/>
          </a:ln>
        </p:spPr>
        <p:txBody>
          <a:bodyPr/>
          <a:lstStyle/>
          <a:p>
            <a:endParaRPr lang="hu-HU"/>
          </a:p>
        </p:txBody>
      </p:sp>
      <p:sp>
        <p:nvSpPr>
          <p:cNvPr id="16" name="Shape 14"/>
          <p:cNvSpPr/>
          <p:nvPr/>
        </p:nvSpPr>
        <p:spPr>
          <a:xfrm>
            <a:off x="10058400" y="1828800"/>
            <a:ext cx="1965960" cy="1170432"/>
          </a:xfrm>
          <a:prstGeom prst="roundRect">
            <a:avLst>
              <a:gd name="adj" fmla="val 6250"/>
            </a:avLst>
          </a:prstGeom>
          <a:solidFill>
            <a:srgbClr val="E9D8FD"/>
          </a:solidFill>
          <a:ln w="12700">
            <a:solidFill>
              <a:srgbClr val="CBD5E0">
                <a:alpha val="70000"/>
              </a:srgbClr>
            </a:solidFill>
            <a:prstDash val="solid"/>
          </a:ln>
        </p:spPr>
        <p:txBody>
          <a:bodyPr/>
          <a:lstStyle/>
          <a:p>
            <a:endParaRPr lang="hu-HU"/>
          </a:p>
        </p:txBody>
      </p:sp>
      <p:sp>
        <p:nvSpPr>
          <p:cNvPr id="17" name="Text 15"/>
          <p:cNvSpPr/>
          <p:nvPr/>
        </p:nvSpPr>
        <p:spPr>
          <a:xfrm>
            <a:off x="10186416" y="1938528"/>
            <a:ext cx="1709928" cy="950976"/>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11–12</a:t>
            </a:r>
            <a:endParaRPr lang="en-US" sz="1150" dirty="0"/>
          </a:p>
          <a:p>
            <a:pPr marL="0" indent="0" algn="ctr">
              <a:buNone/>
            </a:pPr>
            <a:r>
              <a:rPr lang="en-US" sz="1150" b="1" dirty="0">
                <a:solidFill>
                  <a:srgbClr val="1A202C"/>
                </a:solidFill>
              </a:rPr>
              <a:t>Integration • AI workflow</a:t>
            </a:r>
            <a:endParaRPr lang="en-US" sz="1150" dirty="0"/>
          </a:p>
          <a:p>
            <a:pPr marL="0" indent="0" algn="ctr">
              <a:buNone/>
            </a:pPr>
            <a:r>
              <a:rPr lang="en-US" sz="1150" b="1" dirty="0">
                <a:solidFill>
                  <a:srgbClr val="1A202C"/>
                </a:solidFill>
              </a:rPr>
              <a:t>Hybrid system</a:t>
            </a:r>
            <a:endParaRPr lang="en-US" sz="1150" dirty="0"/>
          </a:p>
        </p:txBody>
      </p:sp>
      <p:sp>
        <p:nvSpPr>
          <p:cNvPr id="18" name="Text 16"/>
          <p:cNvSpPr/>
          <p:nvPr/>
        </p:nvSpPr>
        <p:spPr>
          <a:xfrm>
            <a:off x="731520" y="4023360"/>
            <a:ext cx="2103120" cy="292608"/>
          </a:xfrm>
          <a:prstGeom prst="rect">
            <a:avLst/>
          </a:prstGeom>
          <a:noFill/>
          <a:ln/>
        </p:spPr>
        <p:txBody>
          <a:bodyPr wrap="square" lIns="0" tIns="0" rIns="0" bIns="0" rtlCol="0" anchor="ctr"/>
          <a:lstStyle/>
          <a:p>
            <a:pPr marL="0" indent="0">
              <a:buNone/>
            </a:pPr>
            <a:r>
              <a:rPr lang="en-US" sz="1500" b="1" dirty="0">
                <a:solidFill>
                  <a:srgbClr val="1E2A44"/>
                </a:solidFill>
              </a:rPr>
              <a:t>Re-entry design</a:t>
            </a:r>
            <a:endParaRPr lang="en-US" sz="1500" dirty="0"/>
          </a:p>
        </p:txBody>
      </p:sp>
      <p:sp>
        <p:nvSpPr>
          <p:cNvPr id="19" name="Text 17"/>
          <p:cNvSpPr/>
          <p:nvPr/>
        </p:nvSpPr>
        <p:spPr>
          <a:xfrm>
            <a:off x="731520" y="4434840"/>
            <a:ext cx="10607040" cy="960120"/>
          </a:xfrm>
          <a:prstGeom prst="rect">
            <a:avLst/>
          </a:prstGeom>
          <a:noFill/>
          <a:ln/>
        </p:spPr>
        <p:txBody>
          <a:bodyPr wrap="square" lIns="1016" tIns="1016" rIns="1016" bIns="1016" rtlCol="0" anchor="ctr">
            <a:normAutofit/>
          </a:bodyPr>
          <a:lstStyle/>
          <a:p>
            <a:r>
              <a:rPr lang="en-US" sz="1600" dirty="0">
                <a:solidFill>
                  <a:srgbClr val="1A202C"/>
                </a:solidFill>
              </a:rPr>
              <a:t>each block starts from its own starter/snapshot package</a:t>
            </a:r>
            <a:endParaRPr lang="en-US" sz="1600" dirty="0"/>
          </a:p>
          <a:p>
            <a:r>
              <a:rPr lang="en-US" sz="1600" dirty="0">
                <a:solidFill>
                  <a:srgbClr val="1A202C"/>
                </a:solidFill>
              </a:rPr>
              <a:t>a technical dependency chain is at most 2–3 sessions</a:t>
            </a:r>
            <a:endParaRPr lang="en-US" sz="1600" dirty="0"/>
          </a:p>
        </p:txBody>
      </p:sp>
      <p:sp>
        <p:nvSpPr>
          <p:cNvPr id="21" name="Text 18"/>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Today’s learning goals</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By the end of 100 minutes, we build a runnable mini-component.</a:t>
            </a:r>
            <a:endParaRPr lang="en-US" sz="1150" dirty="0"/>
          </a:p>
        </p:txBody>
      </p:sp>
      <p:sp>
        <p:nvSpPr>
          <p:cNvPr id="4" name="Text 2"/>
          <p:cNvSpPr/>
          <p:nvPr/>
        </p:nvSpPr>
        <p:spPr>
          <a:xfrm>
            <a:off x="868680" y="1417320"/>
            <a:ext cx="5486400" cy="4206240"/>
          </a:xfrm>
          <a:prstGeom prst="rect">
            <a:avLst/>
          </a:prstGeom>
          <a:noFill/>
          <a:ln/>
        </p:spPr>
        <p:txBody>
          <a:bodyPr wrap="square" lIns="1016" tIns="1016" rIns="1016" bIns="1016" rtlCol="0" anchor="ctr">
            <a:normAutofit/>
          </a:bodyPr>
          <a:lstStyle/>
          <a:p>
            <a:r>
              <a:rPr lang="en-US" sz="1700" dirty="0">
                <a:solidFill>
                  <a:srgbClr val="1A202C"/>
                </a:solidFill>
              </a:rPr>
              <a:t>distinguish a prototype from an application component</a:t>
            </a:r>
            <a:endParaRPr lang="en-US" sz="1700" dirty="0"/>
          </a:p>
          <a:p>
            <a:r>
              <a:rPr lang="en-US" sz="1700" dirty="0">
                <a:solidFill>
                  <a:srgbClr val="1A202C"/>
                </a:solidFill>
              </a:rPr>
              <a:t>split Python code into clear load → validate → process → save steps</a:t>
            </a:r>
            <a:endParaRPr lang="en-US" sz="1700" dirty="0"/>
          </a:p>
          <a:p>
            <a:r>
              <a:rPr lang="en-US" sz="1700" dirty="0">
                <a:solidFill>
                  <a:srgbClr val="1A202C"/>
                </a:solidFill>
              </a:rPr>
              <a:t>add simple data validation and error handling</a:t>
            </a:r>
            <a:endParaRPr lang="en-US" sz="1700" dirty="0"/>
          </a:p>
          <a:p>
            <a:r>
              <a:rPr lang="en-US" sz="1700" dirty="0">
                <a:solidFill>
                  <a:srgbClr val="1A202C"/>
                </a:solidFill>
              </a:rPr>
              <a:t>build a CLI-runnable data-processing application</a:t>
            </a:r>
            <a:endParaRPr lang="en-US" sz="1700" dirty="0"/>
          </a:p>
          <a:p>
            <a:r>
              <a:rPr lang="en-US" sz="1700" dirty="0">
                <a:solidFill>
                  <a:srgbClr val="1A202C"/>
                </a:solidFill>
              </a:rPr>
              <a:t>use an AI assistant, then verify the code with execution and tests</a:t>
            </a:r>
            <a:endParaRPr lang="en-US" sz="1700" dirty="0"/>
          </a:p>
        </p:txBody>
      </p:sp>
      <p:sp>
        <p:nvSpPr>
          <p:cNvPr id="5" name="Shape 3"/>
          <p:cNvSpPr/>
          <p:nvPr/>
        </p:nvSpPr>
        <p:spPr>
          <a:xfrm>
            <a:off x="6995160" y="1828800"/>
            <a:ext cx="4206240" cy="2011680"/>
          </a:xfrm>
          <a:prstGeom prst="roundRect">
            <a:avLst>
              <a:gd name="adj" fmla="val 3636"/>
            </a:avLst>
          </a:prstGeom>
          <a:solidFill>
            <a:srgbClr val="EBF8FF"/>
          </a:solidFill>
          <a:ln w="12700">
            <a:solidFill>
              <a:srgbClr val="CBD5E0">
                <a:alpha val="70000"/>
              </a:srgbClr>
            </a:solidFill>
            <a:prstDash val="solid"/>
          </a:ln>
        </p:spPr>
        <p:txBody>
          <a:bodyPr/>
          <a:lstStyle/>
          <a:p>
            <a:endParaRPr lang="hu-HU"/>
          </a:p>
        </p:txBody>
      </p:sp>
      <p:sp>
        <p:nvSpPr>
          <p:cNvPr id="6" name="Text 4"/>
          <p:cNvSpPr/>
          <p:nvPr/>
        </p:nvSpPr>
        <p:spPr>
          <a:xfrm>
            <a:off x="7123176" y="1938528"/>
            <a:ext cx="3950208" cy="1792224"/>
          </a:xfrm>
          <a:prstGeom prst="rect">
            <a:avLst/>
          </a:prstGeom>
          <a:noFill/>
          <a:ln/>
        </p:spPr>
        <p:txBody>
          <a:bodyPr wrap="square" lIns="254" tIns="254" rIns="254" bIns="254" rtlCol="0" anchor="ctr">
            <a:normAutofit/>
          </a:bodyPr>
          <a:lstStyle/>
          <a:p>
            <a:pPr marL="0" indent="0" algn="ctr">
              <a:buNone/>
            </a:pPr>
            <a:r>
              <a:rPr lang="en-US" sz="1600" b="1" dirty="0">
                <a:solidFill>
                  <a:srgbClr val="1A202C"/>
                </a:solidFill>
              </a:rPr>
              <a:t>Minimum result</a:t>
            </a:r>
            <a:endParaRPr lang="en-US" sz="1600" dirty="0"/>
          </a:p>
          <a:p>
            <a:pPr marL="0" indent="0" algn="ctr">
              <a:buNone/>
            </a:pPr>
            <a:endParaRPr lang="en-US" sz="1600" dirty="0"/>
          </a:p>
          <a:p>
            <a:pPr marL="0" indent="0" algn="ctr">
              <a:buNone/>
            </a:pPr>
            <a:r>
              <a:rPr lang="en-US" sz="1600" b="1" dirty="0">
                <a:solidFill>
                  <a:srgbClr val="1A202C"/>
                </a:solidFill>
              </a:rPr>
              <a:t>python src/app.py --input ... --output ...</a:t>
            </a:r>
            <a:endParaRPr lang="en-US" sz="1600" dirty="0"/>
          </a:p>
          <a:p>
            <a:pPr marL="0" indent="0" algn="ctr">
              <a:buNone/>
            </a:pPr>
            <a:endParaRPr lang="en-US" sz="1600" dirty="0"/>
          </a:p>
          <a:p>
            <a:pPr marL="0" indent="0" algn="ctr">
              <a:buNone/>
            </a:pPr>
            <a:r>
              <a:rPr lang="en-US" sz="1600" b="1" dirty="0">
                <a:solidFill>
                  <a:srgbClr val="1A202C"/>
                </a:solidFill>
              </a:rPr>
              <a:t>and a processed CSV is created</a:t>
            </a:r>
            <a:endParaRPr lang="en-US" sz="1600" dirty="0"/>
          </a:p>
        </p:txBody>
      </p:sp>
      <p:sp>
        <p:nvSpPr>
          <p:cNvPr id="8" name="Text 5"/>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Prototype or component?</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Both are useful, but for different purposes.</a:t>
            </a:r>
            <a:endParaRPr lang="en-US" sz="1150" dirty="0"/>
          </a:p>
        </p:txBody>
      </p:sp>
      <p:sp>
        <p:nvSpPr>
          <p:cNvPr id="4" name="Text 2"/>
          <p:cNvSpPr/>
          <p:nvPr/>
        </p:nvSpPr>
        <p:spPr>
          <a:xfrm>
            <a:off x="822960" y="1325880"/>
            <a:ext cx="4754880" cy="320040"/>
          </a:xfrm>
          <a:prstGeom prst="rect">
            <a:avLst/>
          </a:prstGeom>
          <a:noFill/>
          <a:ln/>
        </p:spPr>
        <p:txBody>
          <a:bodyPr wrap="square" lIns="0" tIns="0" rIns="0" bIns="0" rtlCol="0" anchor="ctr"/>
          <a:lstStyle/>
          <a:p>
            <a:pPr marL="0" indent="0">
              <a:buNone/>
            </a:pPr>
            <a:r>
              <a:rPr lang="en-US" sz="2000" b="1" dirty="0">
                <a:solidFill>
                  <a:srgbClr val="C05621"/>
                </a:solidFill>
              </a:rPr>
              <a:t>Quick prototype</a:t>
            </a:r>
            <a:endParaRPr lang="en-US" sz="2000" dirty="0"/>
          </a:p>
        </p:txBody>
      </p:sp>
      <p:sp>
        <p:nvSpPr>
          <p:cNvPr id="5" name="Shape 3"/>
          <p:cNvSpPr/>
          <p:nvPr/>
        </p:nvSpPr>
        <p:spPr>
          <a:xfrm>
            <a:off x="822960" y="1737360"/>
            <a:ext cx="4663440" cy="0"/>
          </a:xfrm>
          <a:prstGeom prst="line">
            <a:avLst/>
          </a:prstGeom>
          <a:noFill/>
          <a:ln w="25400">
            <a:solidFill>
              <a:srgbClr val="C05621"/>
            </a:solidFill>
            <a:prstDash val="solid"/>
          </a:ln>
        </p:spPr>
        <p:txBody>
          <a:bodyPr/>
          <a:lstStyle/>
          <a:p>
            <a:endParaRPr lang="hu-HU"/>
          </a:p>
        </p:txBody>
      </p:sp>
      <p:sp>
        <p:nvSpPr>
          <p:cNvPr id="6" name="Text 4"/>
          <p:cNvSpPr/>
          <p:nvPr/>
        </p:nvSpPr>
        <p:spPr>
          <a:xfrm>
            <a:off x="868680" y="2057400"/>
            <a:ext cx="4572000" cy="2560320"/>
          </a:xfrm>
          <a:prstGeom prst="rect">
            <a:avLst/>
          </a:prstGeom>
          <a:noFill/>
          <a:ln/>
        </p:spPr>
        <p:txBody>
          <a:bodyPr wrap="square" lIns="1016" tIns="1016" rIns="1016" bIns="1016" rtlCol="0" anchor="ctr">
            <a:normAutofit/>
          </a:bodyPr>
          <a:lstStyle/>
          <a:p>
            <a:r>
              <a:rPr lang="en-US" sz="1600" dirty="0">
                <a:solidFill>
                  <a:srgbClr val="1A202C"/>
                </a:solidFill>
              </a:rPr>
              <a:t>fast exploration</a:t>
            </a:r>
            <a:endParaRPr lang="en-US" sz="1600" dirty="0"/>
          </a:p>
          <a:p>
            <a:r>
              <a:rPr lang="en-US" sz="1600" dirty="0">
                <a:solidFill>
                  <a:srgbClr val="1A202C"/>
                </a:solidFill>
              </a:rPr>
              <a:t>often hardcoded paths</a:t>
            </a:r>
            <a:endParaRPr lang="en-US" sz="1600" dirty="0"/>
          </a:p>
          <a:p>
            <a:r>
              <a:rPr lang="en-US" sz="1600" dirty="0">
                <a:solidFill>
                  <a:srgbClr val="1A202C"/>
                </a:solidFill>
              </a:rPr>
              <a:t>global state</a:t>
            </a:r>
            <a:endParaRPr lang="en-US" sz="1600" dirty="0"/>
          </a:p>
          <a:p>
            <a:r>
              <a:rPr lang="en-US" sz="1600" dirty="0">
                <a:solidFill>
                  <a:srgbClr val="1A202C"/>
                </a:solidFill>
              </a:rPr>
              <a:t>print and manual checking</a:t>
            </a:r>
            <a:endParaRPr lang="en-US" sz="1600" dirty="0"/>
          </a:p>
          <a:p>
            <a:r>
              <a:rPr lang="en-US" sz="1600" dirty="0">
                <a:solidFill>
                  <a:srgbClr val="1A202C"/>
                </a:solidFill>
              </a:rPr>
              <a:t>hard to call from a workflow</a:t>
            </a:r>
            <a:endParaRPr lang="en-US" sz="1600" dirty="0"/>
          </a:p>
        </p:txBody>
      </p:sp>
      <p:sp>
        <p:nvSpPr>
          <p:cNvPr id="7" name="Text 5"/>
          <p:cNvSpPr/>
          <p:nvPr/>
        </p:nvSpPr>
        <p:spPr>
          <a:xfrm>
            <a:off x="6400800" y="1325880"/>
            <a:ext cx="4754880" cy="320040"/>
          </a:xfrm>
          <a:prstGeom prst="rect">
            <a:avLst/>
          </a:prstGeom>
          <a:noFill/>
          <a:ln/>
        </p:spPr>
        <p:txBody>
          <a:bodyPr wrap="square" lIns="0" tIns="0" rIns="0" bIns="0" rtlCol="0" anchor="ctr"/>
          <a:lstStyle/>
          <a:p>
            <a:pPr marL="0" indent="0">
              <a:buNone/>
            </a:pPr>
            <a:r>
              <a:rPr lang="en-US" sz="2000" b="1" dirty="0">
                <a:solidFill>
                  <a:srgbClr val="0F766E"/>
                </a:solidFill>
              </a:rPr>
              <a:t>Application component</a:t>
            </a:r>
            <a:endParaRPr lang="en-US" sz="2000" dirty="0"/>
          </a:p>
        </p:txBody>
      </p:sp>
      <p:sp>
        <p:nvSpPr>
          <p:cNvPr id="8" name="Shape 6"/>
          <p:cNvSpPr/>
          <p:nvPr/>
        </p:nvSpPr>
        <p:spPr>
          <a:xfrm>
            <a:off x="6400800" y="1737360"/>
            <a:ext cx="4663440" cy="0"/>
          </a:xfrm>
          <a:prstGeom prst="line">
            <a:avLst/>
          </a:prstGeom>
          <a:noFill/>
          <a:ln w="25400">
            <a:solidFill>
              <a:srgbClr val="0F766E"/>
            </a:solidFill>
            <a:prstDash val="solid"/>
          </a:ln>
        </p:spPr>
        <p:txBody>
          <a:bodyPr/>
          <a:lstStyle/>
          <a:p>
            <a:endParaRPr lang="hu-HU"/>
          </a:p>
        </p:txBody>
      </p:sp>
      <p:sp>
        <p:nvSpPr>
          <p:cNvPr id="9" name="Text 7"/>
          <p:cNvSpPr/>
          <p:nvPr/>
        </p:nvSpPr>
        <p:spPr>
          <a:xfrm>
            <a:off x="6446520" y="2057400"/>
            <a:ext cx="4572000" cy="2560320"/>
          </a:xfrm>
          <a:prstGeom prst="rect">
            <a:avLst/>
          </a:prstGeom>
          <a:noFill/>
          <a:ln/>
        </p:spPr>
        <p:txBody>
          <a:bodyPr wrap="square" lIns="1016" tIns="1016" rIns="1016" bIns="1016" rtlCol="0" anchor="ctr">
            <a:normAutofit/>
          </a:bodyPr>
          <a:lstStyle/>
          <a:p>
            <a:r>
              <a:rPr lang="en-US" sz="1600" dirty="0">
                <a:solidFill>
                  <a:srgbClr val="1A202C"/>
                </a:solidFill>
              </a:rPr>
              <a:t>parameterized input</a:t>
            </a:r>
            <a:endParaRPr lang="en-US" sz="1600" dirty="0"/>
          </a:p>
          <a:p>
            <a:r>
              <a:rPr lang="en-US" sz="1600" dirty="0">
                <a:solidFill>
                  <a:srgbClr val="1A202C"/>
                </a:solidFill>
              </a:rPr>
              <a:t>structured output</a:t>
            </a:r>
            <a:endParaRPr lang="en-US" sz="1600" dirty="0"/>
          </a:p>
          <a:p>
            <a:r>
              <a:rPr lang="en-US" sz="1600" dirty="0">
                <a:solidFill>
                  <a:srgbClr val="1A202C"/>
                </a:solidFill>
              </a:rPr>
              <a:t>validation and error messages</a:t>
            </a:r>
            <a:endParaRPr lang="en-US" sz="1600" dirty="0"/>
          </a:p>
          <a:p>
            <a:r>
              <a:rPr lang="en-US" sz="1600" dirty="0">
                <a:solidFill>
                  <a:srgbClr val="1A202C"/>
                </a:solidFill>
              </a:rPr>
              <a:t>testable functions</a:t>
            </a:r>
            <a:endParaRPr lang="en-US" sz="1600" dirty="0"/>
          </a:p>
          <a:p>
            <a:r>
              <a:rPr lang="en-US" sz="1600" dirty="0">
                <a:solidFill>
                  <a:srgbClr val="1A202C"/>
                </a:solidFill>
              </a:rPr>
              <a:t>can later be called by an app/API/flow</a:t>
            </a:r>
            <a:endParaRPr lang="en-US" sz="1600" dirty="0"/>
          </a:p>
        </p:txBody>
      </p:sp>
      <p:sp>
        <p:nvSpPr>
          <p:cNvPr id="11" name="Text 8"/>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Minimal structure of the component</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This is the pattern we implement today.</a:t>
            </a:r>
            <a:endParaRPr lang="en-US" sz="1150" dirty="0"/>
          </a:p>
        </p:txBody>
      </p:sp>
      <p:sp>
        <p:nvSpPr>
          <p:cNvPr id="4" name="Shape 2"/>
          <p:cNvSpPr/>
          <p:nvPr/>
        </p:nvSpPr>
        <p:spPr>
          <a:xfrm>
            <a:off x="640080" y="1965960"/>
            <a:ext cx="1874520" cy="914400"/>
          </a:xfrm>
          <a:prstGeom prst="roundRect">
            <a:avLst>
              <a:gd name="adj" fmla="val 8000"/>
            </a:avLst>
          </a:prstGeom>
          <a:solidFill>
            <a:srgbClr val="F7FAFC"/>
          </a:solidFill>
          <a:ln w="12700">
            <a:solidFill>
              <a:srgbClr val="CBD5E0">
                <a:alpha val="70000"/>
              </a:srgbClr>
            </a:solidFill>
            <a:prstDash val="solid"/>
          </a:ln>
        </p:spPr>
        <p:txBody>
          <a:bodyPr/>
          <a:lstStyle/>
          <a:p>
            <a:endParaRPr lang="hu-HU"/>
          </a:p>
        </p:txBody>
      </p:sp>
      <p:sp>
        <p:nvSpPr>
          <p:cNvPr id="5" name="Text 3"/>
          <p:cNvSpPr/>
          <p:nvPr/>
        </p:nvSpPr>
        <p:spPr>
          <a:xfrm>
            <a:off x="768096" y="2075688"/>
            <a:ext cx="1618488" cy="694944"/>
          </a:xfrm>
          <a:prstGeom prst="rect">
            <a:avLst/>
          </a:prstGeom>
          <a:noFill/>
          <a:ln/>
        </p:spPr>
        <p:txBody>
          <a:bodyPr wrap="square" lIns="254" tIns="254" rIns="254" bIns="254" rtlCol="0" anchor="ctr">
            <a:normAutofit/>
          </a:bodyPr>
          <a:lstStyle/>
          <a:p>
            <a:pPr marL="0" indent="0" algn="ctr">
              <a:buNone/>
            </a:pPr>
            <a:r>
              <a:rPr lang="en-US" sz="1250" b="1" dirty="0">
                <a:solidFill>
                  <a:srgbClr val="1A202C"/>
                </a:solidFill>
              </a:rPr>
              <a:t>CSV</a:t>
            </a:r>
            <a:endParaRPr lang="en-US" sz="1250" dirty="0"/>
          </a:p>
          <a:p>
            <a:pPr marL="0" indent="0" algn="ctr">
              <a:buNone/>
            </a:pPr>
            <a:r>
              <a:rPr lang="en-US" sz="1250" b="1" dirty="0">
                <a:solidFill>
                  <a:srgbClr val="1A202C"/>
                </a:solidFill>
              </a:rPr>
              <a:t>load_cases</a:t>
            </a:r>
            <a:endParaRPr lang="en-US" sz="1250" dirty="0"/>
          </a:p>
        </p:txBody>
      </p:sp>
      <p:sp>
        <p:nvSpPr>
          <p:cNvPr id="6" name="Shape 4"/>
          <p:cNvSpPr/>
          <p:nvPr/>
        </p:nvSpPr>
        <p:spPr>
          <a:xfrm>
            <a:off x="2514600" y="2423160"/>
            <a:ext cx="365760" cy="0"/>
          </a:xfrm>
          <a:prstGeom prst="line">
            <a:avLst/>
          </a:prstGeom>
          <a:noFill/>
          <a:ln w="25400">
            <a:solidFill>
              <a:srgbClr val="4A5568"/>
            </a:solidFill>
            <a:prstDash val="solid"/>
            <a:headEnd type="none"/>
            <a:tailEnd type="triangle"/>
          </a:ln>
        </p:spPr>
        <p:txBody>
          <a:bodyPr/>
          <a:lstStyle/>
          <a:p>
            <a:endParaRPr lang="hu-HU"/>
          </a:p>
        </p:txBody>
      </p:sp>
      <p:sp>
        <p:nvSpPr>
          <p:cNvPr id="7" name="Shape 5"/>
          <p:cNvSpPr/>
          <p:nvPr/>
        </p:nvSpPr>
        <p:spPr>
          <a:xfrm>
            <a:off x="2880360" y="1965960"/>
            <a:ext cx="1874520" cy="914400"/>
          </a:xfrm>
          <a:prstGeom prst="roundRect">
            <a:avLst>
              <a:gd name="adj" fmla="val 8000"/>
            </a:avLst>
          </a:prstGeom>
          <a:solidFill>
            <a:srgbClr val="E6FFFA"/>
          </a:solidFill>
          <a:ln w="12700">
            <a:solidFill>
              <a:srgbClr val="CBD5E0">
                <a:alpha val="70000"/>
              </a:srgbClr>
            </a:solidFill>
            <a:prstDash val="solid"/>
          </a:ln>
        </p:spPr>
        <p:txBody>
          <a:bodyPr/>
          <a:lstStyle/>
          <a:p>
            <a:endParaRPr lang="hu-HU"/>
          </a:p>
        </p:txBody>
      </p:sp>
      <p:sp>
        <p:nvSpPr>
          <p:cNvPr id="8" name="Text 6"/>
          <p:cNvSpPr/>
          <p:nvPr/>
        </p:nvSpPr>
        <p:spPr>
          <a:xfrm>
            <a:off x="3008376" y="2075688"/>
            <a:ext cx="1618488" cy="694944"/>
          </a:xfrm>
          <a:prstGeom prst="rect">
            <a:avLst/>
          </a:prstGeom>
          <a:noFill/>
          <a:ln/>
        </p:spPr>
        <p:txBody>
          <a:bodyPr wrap="square" lIns="254" tIns="254" rIns="254" bIns="254" rtlCol="0" anchor="ctr">
            <a:normAutofit/>
          </a:bodyPr>
          <a:lstStyle/>
          <a:p>
            <a:pPr marL="0" indent="0" algn="ctr">
              <a:buNone/>
            </a:pPr>
            <a:r>
              <a:rPr lang="en-US" sz="1250" b="1" dirty="0">
                <a:solidFill>
                  <a:srgbClr val="1A202C"/>
                </a:solidFill>
              </a:rPr>
              <a:t>DataFrame</a:t>
            </a:r>
            <a:endParaRPr lang="en-US" sz="1250" dirty="0"/>
          </a:p>
          <a:p>
            <a:pPr marL="0" indent="0" algn="ctr">
              <a:buNone/>
            </a:pPr>
            <a:r>
              <a:rPr lang="en-US" sz="1250" b="1" dirty="0">
                <a:solidFill>
                  <a:srgbClr val="1A202C"/>
                </a:solidFill>
              </a:rPr>
              <a:t>validate_input</a:t>
            </a:r>
            <a:endParaRPr lang="en-US" sz="1250" dirty="0"/>
          </a:p>
        </p:txBody>
      </p:sp>
      <p:sp>
        <p:nvSpPr>
          <p:cNvPr id="9" name="Shape 7"/>
          <p:cNvSpPr/>
          <p:nvPr/>
        </p:nvSpPr>
        <p:spPr>
          <a:xfrm>
            <a:off x="4754880" y="2423160"/>
            <a:ext cx="365760" cy="0"/>
          </a:xfrm>
          <a:prstGeom prst="line">
            <a:avLst/>
          </a:prstGeom>
          <a:noFill/>
          <a:ln w="25400">
            <a:solidFill>
              <a:srgbClr val="4A5568"/>
            </a:solidFill>
            <a:prstDash val="solid"/>
            <a:headEnd type="none"/>
            <a:tailEnd type="triangle"/>
          </a:ln>
        </p:spPr>
        <p:txBody>
          <a:bodyPr/>
          <a:lstStyle/>
          <a:p>
            <a:endParaRPr lang="hu-HU"/>
          </a:p>
        </p:txBody>
      </p:sp>
      <p:sp>
        <p:nvSpPr>
          <p:cNvPr id="10" name="Shape 8"/>
          <p:cNvSpPr/>
          <p:nvPr/>
        </p:nvSpPr>
        <p:spPr>
          <a:xfrm>
            <a:off x="5120640" y="1965960"/>
            <a:ext cx="1874520" cy="914400"/>
          </a:xfrm>
          <a:prstGeom prst="roundRect">
            <a:avLst>
              <a:gd name="adj" fmla="val 8000"/>
            </a:avLst>
          </a:prstGeom>
          <a:solidFill>
            <a:srgbClr val="EBF8FF"/>
          </a:solidFill>
          <a:ln w="12700">
            <a:solidFill>
              <a:srgbClr val="CBD5E0">
                <a:alpha val="70000"/>
              </a:srgbClr>
            </a:solidFill>
            <a:prstDash val="solid"/>
          </a:ln>
        </p:spPr>
        <p:txBody>
          <a:bodyPr/>
          <a:lstStyle/>
          <a:p>
            <a:endParaRPr lang="hu-HU"/>
          </a:p>
        </p:txBody>
      </p:sp>
      <p:sp>
        <p:nvSpPr>
          <p:cNvPr id="11" name="Text 9"/>
          <p:cNvSpPr/>
          <p:nvPr/>
        </p:nvSpPr>
        <p:spPr>
          <a:xfrm>
            <a:off x="5248656" y="2075688"/>
            <a:ext cx="1618488" cy="694944"/>
          </a:xfrm>
          <a:prstGeom prst="rect">
            <a:avLst/>
          </a:prstGeom>
          <a:noFill/>
          <a:ln/>
        </p:spPr>
        <p:txBody>
          <a:bodyPr wrap="square" lIns="254" tIns="254" rIns="254" bIns="254" rtlCol="0" anchor="ctr">
            <a:normAutofit/>
          </a:bodyPr>
          <a:lstStyle/>
          <a:p>
            <a:pPr marL="0" indent="0" algn="ctr">
              <a:buNone/>
            </a:pPr>
            <a:r>
              <a:rPr lang="en-US" sz="1250" b="1" dirty="0">
                <a:solidFill>
                  <a:srgbClr val="1A202C"/>
                </a:solidFill>
              </a:rPr>
              <a:t>rows</a:t>
            </a:r>
            <a:endParaRPr lang="en-US" sz="1250" dirty="0"/>
          </a:p>
          <a:p>
            <a:pPr marL="0" indent="0" algn="ctr">
              <a:buNone/>
            </a:pPr>
            <a:r>
              <a:rPr lang="en-US" sz="1250" b="1" dirty="0">
                <a:solidFill>
                  <a:srgbClr val="1A202C"/>
                </a:solidFill>
              </a:rPr>
              <a:t>classify_issue</a:t>
            </a:r>
            <a:endParaRPr lang="en-US" sz="1250" dirty="0"/>
          </a:p>
        </p:txBody>
      </p:sp>
      <p:sp>
        <p:nvSpPr>
          <p:cNvPr id="12" name="Shape 10"/>
          <p:cNvSpPr/>
          <p:nvPr/>
        </p:nvSpPr>
        <p:spPr>
          <a:xfrm>
            <a:off x="6995160" y="2423160"/>
            <a:ext cx="365760" cy="0"/>
          </a:xfrm>
          <a:prstGeom prst="line">
            <a:avLst/>
          </a:prstGeom>
          <a:noFill/>
          <a:ln w="25400">
            <a:solidFill>
              <a:srgbClr val="4A5568"/>
            </a:solidFill>
            <a:prstDash val="solid"/>
            <a:headEnd type="none"/>
            <a:tailEnd type="triangle"/>
          </a:ln>
        </p:spPr>
        <p:txBody>
          <a:bodyPr/>
          <a:lstStyle/>
          <a:p>
            <a:endParaRPr lang="hu-HU"/>
          </a:p>
        </p:txBody>
      </p:sp>
      <p:sp>
        <p:nvSpPr>
          <p:cNvPr id="13" name="Shape 11"/>
          <p:cNvSpPr/>
          <p:nvPr/>
        </p:nvSpPr>
        <p:spPr>
          <a:xfrm>
            <a:off x="7360920" y="1965960"/>
            <a:ext cx="1874520" cy="914400"/>
          </a:xfrm>
          <a:prstGeom prst="roundRect">
            <a:avLst>
              <a:gd name="adj" fmla="val 8000"/>
            </a:avLst>
          </a:prstGeom>
          <a:solidFill>
            <a:srgbClr val="FEFCBF"/>
          </a:solidFill>
          <a:ln w="12700">
            <a:solidFill>
              <a:srgbClr val="CBD5E0">
                <a:alpha val="70000"/>
              </a:srgbClr>
            </a:solidFill>
            <a:prstDash val="solid"/>
          </a:ln>
        </p:spPr>
        <p:txBody>
          <a:bodyPr/>
          <a:lstStyle/>
          <a:p>
            <a:endParaRPr lang="hu-HU"/>
          </a:p>
        </p:txBody>
      </p:sp>
      <p:sp>
        <p:nvSpPr>
          <p:cNvPr id="14" name="Text 12"/>
          <p:cNvSpPr/>
          <p:nvPr/>
        </p:nvSpPr>
        <p:spPr>
          <a:xfrm>
            <a:off x="7488936" y="2075688"/>
            <a:ext cx="1618488" cy="694944"/>
          </a:xfrm>
          <a:prstGeom prst="rect">
            <a:avLst/>
          </a:prstGeom>
          <a:noFill/>
          <a:ln/>
        </p:spPr>
        <p:txBody>
          <a:bodyPr wrap="square" lIns="254" tIns="254" rIns="254" bIns="254" rtlCol="0" anchor="ctr">
            <a:normAutofit/>
          </a:bodyPr>
          <a:lstStyle/>
          <a:p>
            <a:pPr marL="0" indent="0" algn="ctr">
              <a:buNone/>
            </a:pPr>
            <a:r>
              <a:rPr lang="en-US" sz="1250" b="1" dirty="0">
                <a:solidFill>
                  <a:srgbClr val="1A202C"/>
                </a:solidFill>
              </a:rPr>
              <a:t>result</a:t>
            </a:r>
            <a:endParaRPr lang="en-US" sz="1250" dirty="0"/>
          </a:p>
          <a:p>
            <a:pPr marL="0" indent="0" algn="ctr">
              <a:buNone/>
            </a:pPr>
            <a:r>
              <a:rPr lang="en-US" sz="1250" b="1" dirty="0">
                <a:solidFill>
                  <a:srgbClr val="1A202C"/>
                </a:solidFill>
              </a:rPr>
              <a:t>process_cases</a:t>
            </a:r>
            <a:endParaRPr lang="en-US" sz="1250" dirty="0"/>
          </a:p>
        </p:txBody>
      </p:sp>
      <p:sp>
        <p:nvSpPr>
          <p:cNvPr id="15" name="Shape 13"/>
          <p:cNvSpPr/>
          <p:nvPr/>
        </p:nvSpPr>
        <p:spPr>
          <a:xfrm>
            <a:off x="9235440" y="2423160"/>
            <a:ext cx="365760" cy="0"/>
          </a:xfrm>
          <a:prstGeom prst="line">
            <a:avLst/>
          </a:prstGeom>
          <a:noFill/>
          <a:ln w="25400">
            <a:solidFill>
              <a:srgbClr val="4A5568"/>
            </a:solidFill>
            <a:prstDash val="solid"/>
            <a:headEnd type="none"/>
            <a:tailEnd type="triangle"/>
          </a:ln>
        </p:spPr>
        <p:txBody>
          <a:bodyPr/>
          <a:lstStyle/>
          <a:p>
            <a:endParaRPr lang="hu-HU"/>
          </a:p>
        </p:txBody>
      </p:sp>
      <p:sp>
        <p:nvSpPr>
          <p:cNvPr id="16" name="Shape 14"/>
          <p:cNvSpPr/>
          <p:nvPr/>
        </p:nvSpPr>
        <p:spPr>
          <a:xfrm>
            <a:off x="9601200" y="1965960"/>
            <a:ext cx="1874520" cy="914400"/>
          </a:xfrm>
          <a:prstGeom prst="roundRect">
            <a:avLst>
              <a:gd name="adj" fmla="val 8000"/>
            </a:avLst>
          </a:prstGeom>
          <a:solidFill>
            <a:srgbClr val="FEEBC8"/>
          </a:solidFill>
          <a:ln w="12700">
            <a:solidFill>
              <a:srgbClr val="CBD5E0">
                <a:alpha val="70000"/>
              </a:srgbClr>
            </a:solidFill>
            <a:prstDash val="solid"/>
          </a:ln>
        </p:spPr>
        <p:txBody>
          <a:bodyPr/>
          <a:lstStyle/>
          <a:p>
            <a:endParaRPr lang="hu-HU"/>
          </a:p>
        </p:txBody>
      </p:sp>
      <p:sp>
        <p:nvSpPr>
          <p:cNvPr id="17" name="Text 15"/>
          <p:cNvSpPr/>
          <p:nvPr/>
        </p:nvSpPr>
        <p:spPr>
          <a:xfrm>
            <a:off x="9729216" y="2075688"/>
            <a:ext cx="1618488" cy="694944"/>
          </a:xfrm>
          <a:prstGeom prst="rect">
            <a:avLst/>
          </a:prstGeom>
          <a:noFill/>
          <a:ln/>
        </p:spPr>
        <p:txBody>
          <a:bodyPr wrap="square" lIns="254" tIns="254" rIns="254" bIns="254" rtlCol="0" anchor="ctr">
            <a:normAutofit/>
          </a:bodyPr>
          <a:lstStyle/>
          <a:p>
            <a:pPr marL="0" indent="0" algn="ctr">
              <a:buNone/>
            </a:pPr>
            <a:r>
              <a:rPr lang="en-US" sz="1250" b="1" dirty="0">
                <a:solidFill>
                  <a:srgbClr val="1A202C"/>
                </a:solidFill>
              </a:rPr>
              <a:t>CSV + summary</a:t>
            </a:r>
            <a:endParaRPr lang="en-US" sz="1250" dirty="0"/>
          </a:p>
          <a:p>
            <a:pPr marL="0" indent="0" algn="ctr">
              <a:buNone/>
            </a:pPr>
            <a:r>
              <a:rPr lang="en-US" sz="1250" b="1" dirty="0">
                <a:solidFill>
                  <a:srgbClr val="1A202C"/>
                </a:solidFill>
              </a:rPr>
              <a:t>save/summarize</a:t>
            </a:r>
            <a:endParaRPr lang="en-US" sz="1250" dirty="0"/>
          </a:p>
        </p:txBody>
      </p:sp>
      <p:sp>
        <p:nvSpPr>
          <p:cNvPr id="18" name="Text 16"/>
          <p:cNvSpPr/>
          <p:nvPr/>
        </p:nvSpPr>
        <p:spPr>
          <a:xfrm>
            <a:off x="960120" y="3886200"/>
            <a:ext cx="10241280" cy="594360"/>
          </a:xfrm>
          <a:prstGeom prst="rect">
            <a:avLst/>
          </a:prstGeom>
          <a:noFill/>
          <a:ln/>
        </p:spPr>
        <p:txBody>
          <a:bodyPr wrap="square" lIns="381" tIns="381" rIns="381" bIns="381" rtlCol="0" anchor="ctr">
            <a:normAutofit/>
          </a:bodyPr>
          <a:lstStyle/>
          <a:p>
            <a:pPr marL="0" indent="0" algn="ctr">
              <a:buNone/>
            </a:pPr>
            <a:r>
              <a:rPr lang="en-US" sz="2000" b="1" dirty="0">
                <a:solidFill>
                  <a:srgbClr val="1E2A44"/>
                </a:solidFill>
              </a:rPr>
              <a:t>Important: functions should not ask for interactive input, hide state, or only print results.</a:t>
            </a:r>
            <a:endParaRPr lang="en-US" sz="2000" dirty="0"/>
          </a:p>
        </p:txBody>
      </p:sp>
      <p:sp>
        <p:nvSpPr>
          <p:cNvPr id="20" name="Text 17"/>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Case study: data quality tickets</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The DataOps team needs a working processing component, not just an analysis.</a:t>
            </a:r>
            <a:endParaRPr lang="en-US" sz="1150" dirty="0"/>
          </a:p>
        </p:txBody>
      </p:sp>
      <p:sp>
        <p:nvSpPr>
          <p:cNvPr id="4" name="Text 2"/>
          <p:cNvSpPr/>
          <p:nvPr/>
        </p:nvSpPr>
        <p:spPr>
          <a:xfrm>
            <a:off x="822960" y="1417320"/>
            <a:ext cx="2468880" cy="228600"/>
          </a:xfrm>
          <a:prstGeom prst="rect">
            <a:avLst/>
          </a:prstGeom>
          <a:noFill/>
          <a:ln/>
        </p:spPr>
        <p:txBody>
          <a:bodyPr wrap="square" lIns="0" tIns="0" rIns="0" bIns="0" rtlCol="0" anchor="ctr"/>
          <a:lstStyle/>
          <a:p>
            <a:pPr marL="0" indent="0">
              <a:buNone/>
            </a:pPr>
            <a:r>
              <a:rPr lang="en-US" sz="1400" b="1" dirty="0">
                <a:solidFill>
                  <a:srgbClr val="2B6CB0"/>
                </a:solidFill>
              </a:rPr>
              <a:t>Input record</a:t>
            </a:r>
            <a:endParaRPr lang="en-US" sz="1400" dirty="0"/>
          </a:p>
        </p:txBody>
      </p:sp>
      <p:sp>
        <p:nvSpPr>
          <p:cNvPr id="5" name="Text 3"/>
          <p:cNvSpPr/>
          <p:nvPr/>
        </p:nvSpPr>
        <p:spPr>
          <a:xfrm>
            <a:off x="822960" y="1737360"/>
            <a:ext cx="10241280" cy="475488"/>
          </a:xfrm>
          <a:prstGeom prst="rect">
            <a:avLst/>
          </a:prstGeom>
          <a:noFill/>
          <a:ln/>
        </p:spPr>
        <p:txBody>
          <a:bodyPr wrap="square" lIns="381" tIns="381" rIns="381" bIns="381" rtlCol="0" anchor="ctr">
            <a:normAutofit/>
          </a:bodyPr>
          <a:lstStyle/>
          <a:p>
            <a:pPr marL="0" indent="0">
              <a:buNone/>
            </a:pPr>
            <a:r>
              <a:rPr lang="en-US" sz="1900" b="1" dirty="0">
                <a:solidFill>
                  <a:srgbClr val="1A202C"/>
                </a:solidFill>
              </a:rPr>
              <a:t>case_id, source_system, field_name, reported_value, issue_text, created_at, reporter_team</a:t>
            </a:r>
            <a:endParaRPr lang="en-US" sz="1900" dirty="0"/>
          </a:p>
        </p:txBody>
      </p:sp>
      <p:sp>
        <p:nvSpPr>
          <p:cNvPr id="6" name="Shape 4"/>
          <p:cNvSpPr/>
          <p:nvPr/>
        </p:nvSpPr>
        <p:spPr>
          <a:xfrm>
            <a:off x="822960" y="2743200"/>
            <a:ext cx="1874520" cy="502920"/>
          </a:xfrm>
          <a:prstGeom prst="roundRect">
            <a:avLst>
              <a:gd name="adj" fmla="val 14545"/>
            </a:avLst>
          </a:prstGeom>
          <a:solidFill>
            <a:srgbClr val="E6FFFA"/>
          </a:solidFill>
          <a:ln w="12700">
            <a:solidFill>
              <a:srgbClr val="CBD5E0">
                <a:alpha val="70000"/>
              </a:srgbClr>
            </a:solidFill>
            <a:prstDash val="solid"/>
          </a:ln>
        </p:spPr>
        <p:txBody>
          <a:bodyPr/>
          <a:lstStyle/>
          <a:p>
            <a:endParaRPr lang="hu-HU"/>
          </a:p>
        </p:txBody>
      </p:sp>
      <p:sp>
        <p:nvSpPr>
          <p:cNvPr id="7" name="Text 5"/>
          <p:cNvSpPr/>
          <p:nvPr/>
        </p:nvSpPr>
        <p:spPr>
          <a:xfrm>
            <a:off x="950976" y="2852928"/>
            <a:ext cx="1618488" cy="283464"/>
          </a:xfrm>
          <a:prstGeom prst="rect">
            <a:avLst/>
          </a:prstGeom>
          <a:noFill/>
          <a:ln/>
        </p:spPr>
        <p:txBody>
          <a:bodyPr wrap="square" lIns="254" tIns="254" rIns="254" bIns="254" rtlCol="0" anchor="ctr">
            <a:normAutofit/>
          </a:bodyPr>
          <a:lstStyle/>
          <a:p>
            <a:pPr marL="0" indent="0" algn="ctr">
              <a:buNone/>
            </a:pPr>
            <a:r>
              <a:rPr lang="en-US" sz="1300" b="1" dirty="0">
                <a:solidFill>
                  <a:srgbClr val="1A202C"/>
                </a:solidFill>
              </a:rPr>
              <a:t>missing_value</a:t>
            </a:r>
            <a:endParaRPr lang="en-US" sz="1300" dirty="0"/>
          </a:p>
        </p:txBody>
      </p:sp>
      <p:sp>
        <p:nvSpPr>
          <p:cNvPr id="8" name="Shape 6"/>
          <p:cNvSpPr/>
          <p:nvPr/>
        </p:nvSpPr>
        <p:spPr>
          <a:xfrm>
            <a:off x="2926080" y="2743200"/>
            <a:ext cx="1965960" cy="502920"/>
          </a:xfrm>
          <a:prstGeom prst="roundRect">
            <a:avLst>
              <a:gd name="adj" fmla="val 14545"/>
            </a:avLst>
          </a:prstGeom>
          <a:solidFill>
            <a:srgbClr val="FEEBC8"/>
          </a:solidFill>
          <a:ln w="12700">
            <a:solidFill>
              <a:srgbClr val="CBD5E0">
                <a:alpha val="70000"/>
              </a:srgbClr>
            </a:solidFill>
            <a:prstDash val="solid"/>
          </a:ln>
        </p:spPr>
        <p:txBody>
          <a:bodyPr/>
          <a:lstStyle/>
          <a:p>
            <a:endParaRPr lang="hu-HU"/>
          </a:p>
        </p:txBody>
      </p:sp>
      <p:sp>
        <p:nvSpPr>
          <p:cNvPr id="9" name="Text 7"/>
          <p:cNvSpPr/>
          <p:nvPr/>
        </p:nvSpPr>
        <p:spPr>
          <a:xfrm>
            <a:off x="3054096" y="2852928"/>
            <a:ext cx="1709928" cy="283464"/>
          </a:xfrm>
          <a:prstGeom prst="rect">
            <a:avLst/>
          </a:prstGeom>
          <a:noFill/>
          <a:ln/>
        </p:spPr>
        <p:txBody>
          <a:bodyPr wrap="square" lIns="254" tIns="254" rIns="254" bIns="254" rtlCol="0" anchor="ctr">
            <a:normAutofit/>
          </a:bodyPr>
          <a:lstStyle/>
          <a:p>
            <a:pPr marL="0" indent="0" algn="ctr">
              <a:buNone/>
            </a:pPr>
            <a:r>
              <a:rPr lang="en-US" sz="1300" b="1" dirty="0">
                <a:solidFill>
                  <a:srgbClr val="1A202C"/>
                </a:solidFill>
              </a:rPr>
              <a:t>invalid_numeric</a:t>
            </a:r>
            <a:endParaRPr lang="en-US" sz="1300" dirty="0"/>
          </a:p>
        </p:txBody>
      </p:sp>
      <p:sp>
        <p:nvSpPr>
          <p:cNvPr id="10" name="Shape 8"/>
          <p:cNvSpPr/>
          <p:nvPr/>
        </p:nvSpPr>
        <p:spPr>
          <a:xfrm>
            <a:off x="5120640" y="2743200"/>
            <a:ext cx="1874520" cy="502920"/>
          </a:xfrm>
          <a:prstGeom prst="roundRect">
            <a:avLst>
              <a:gd name="adj" fmla="val 14545"/>
            </a:avLst>
          </a:prstGeom>
          <a:solidFill>
            <a:srgbClr val="EBF8FF"/>
          </a:solidFill>
          <a:ln w="12700">
            <a:solidFill>
              <a:srgbClr val="CBD5E0">
                <a:alpha val="70000"/>
              </a:srgbClr>
            </a:solidFill>
            <a:prstDash val="solid"/>
          </a:ln>
        </p:spPr>
        <p:txBody>
          <a:bodyPr/>
          <a:lstStyle/>
          <a:p>
            <a:endParaRPr lang="hu-HU"/>
          </a:p>
        </p:txBody>
      </p:sp>
      <p:sp>
        <p:nvSpPr>
          <p:cNvPr id="11" name="Text 9"/>
          <p:cNvSpPr/>
          <p:nvPr/>
        </p:nvSpPr>
        <p:spPr>
          <a:xfrm>
            <a:off x="5248656" y="2852928"/>
            <a:ext cx="1618488" cy="283464"/>
          </a:xfrm>
          <a:prstGeom prst="rect">
            <a:avLst/>
          </a:prstGeom>
          <a:noFill/>
          <a:ln/>
        </p:spPr>
        <p:txBody>
          <a:bodyPr wrap="square" lIns="254" tIns="254" rIns="254" bIns="254" rtlCol="0" anchor="ctr">
            <a:normAutofit/>
          </a:bodyPr>
          <a:lstStyle/>
          <a:p>
            <a:pPr marL="0" indent="0" algn="ctr">
              <a:buNone/>
            </a:pPr>
            <a:r>
              <a:rPr lang="en-US" sz="1300" b="1" dirty="0">
                <a:solidFill>
                  <a:srgbClr val="1A202C"/>
                </a:solidFill>
              </a:rPr>
              <a:t>invalid_date</a:t>
            </a:r>
            <a:endParaRPr lang="en-US" sz="1300" dirty="0"/>
          </a:p>
        </p:txBody>
      </p:sp>
      <p:sp>
        <p:nvSpPr>
          <p:cNvPr id="12" name="Shape 10"/>
          <p:cNvSpPr/>
          <p:nvPr/>
        </p:nvSpPr>
        <p:spPr>
          <a:xfrm>
            <a:off x="7223760" y="2743200"/>
            <a:ext cx="1600200" cy="502920"/>
          </a:xfrm>
          <a:prstGeom prst="roundRect">
            <a:avLst>
              <a:gd name="adj" fmla="val 14545"/>
            </a:avLst>
          </a:prstGeom>
          <a:solidFill>
            <a:srgbClr val="FEFCBF"/>
          </a:solidFill>
          <a:ln w="12700">
            <a:solidFill>
              <a:srgbClr val="CBD5E0">
                <a:alpha val="70000"/>
              </a:srgbClr>
            </a:solidFill>
            <a:prstDash val="solid"/>
          </a:ln>
        </p:spPr>
        <p:txBody>
          <a:bodyPr/>
          <a:lstStyle/>
          <a:p>
            <a:endParaRPr lang="hu-HU"/>
          </a:p>
        </p:txBody>
      </p:sp>
      <p:sp>
        <p:nvSpPr>
          <p:cNvPr id="13" name="Text 11"/>
          <p:cNvSpPr/>
          <p:nvPr/>
        </p:nvSpPr>
        <p:spPr>
          <a:xfrm>
            <a:off x="7351776" y="2852928"/>
            <a:ext cx="1344168" cy="283464"/>
          </a:xfrm>
          <a:prstGeom prst="rect">
            <a:avLst/>
          </a:prstGeom>
          <a:noFill/>
          <a:ln/>
        </p:spPr>
        <p:txBody>
          <a:bodyPr wrap="square" lIns="254" tIns="254" rIns="254" bIns="254" rtlCol="0" anchor="ctr">
            <a:normAutofit/>
          </a:bodyPr>
          <a:lstStyle/>
          <a:p>
            <a:pPr marL="0" indent="0" algn="ctr">
              <a:buNone/>
            </a:pPr>
            <a:r>
              <a:rPr lang="en-US" sz="1300" b="1" dirty="0">
                <a:solidFill>
                  <a:srgbClr val="1A202C"/>
                </a:solidFill>
              </a:rPr>
              <a:t>duplicate</a:t>
            </a:r>
            <a:endParaRPr lang="en-US" sz="1300" dirty="0"/>
          </a:p>
        </p:txBody>
      </p:sp>
      <p:sp>
        <p:nvSpPr>
          <p:cNvPr id="14" name="Shape 12"/>
          <p:cNvSpPr/>
          <p:nvPr/>
        </p:nvSpPr>
        <p:spPr>
          <a:xfrm>
            <a:off x="9098280" y="2743200"/>
            <a:ext cx="1325880" cy="502920"/>
          </a:xfrm>
          <a:prstGeom prst="roundRect">
            <a:avLst>
              <a:gd name="adj" fmla="val 14545"/>
            </a:avLst>
          </a:prstGeom>
          <a:solidFill>
            <a:srgbClr val="FEE2E2"/>
          </a:solidFill>
          <a:ln w="12700">
            <a:solidFill>
              <a:srgbClr val="CBD5E0">
                <a:alpha val="70000"/>
              </a:srgbClr>
            </a:solidFill>
            <a:prstDash val="solid"/>
          </a:ln>
        </p:spPr>
        <p:txBody>
          <a:bodyPr/>
          <a:lstStyle/>
          <a:p>
            <a:endParaRPr lang="hu-HU"/>
          </a:p>
        </p:txBody>
      </p:sp>
      <p:sp>
        <p:nvSpPr>
          <p:cNvPr id="15" name="Text 13"/>
          <p:cNvSpPr/>
          <p:nvPr/>
        </p:nvSpPr>
        <p:spPr>
          <a:xfrm>
            <a:off x="9226296" y="2852928"/>
            <a:ext cx="1069848" cy="283464"/>
          </a:xfrm>
          <a:prstGeom prst="rect">
            <a:avLst/>
          </a:prstGeom>
          <a:noFill/>
          <a:ln/>
        </p:spPr>
        <p:txBody>
          <a:bodyPr wrap="square" lIns="254" tIns="254" rIns="254" bIns="254" rtlCol="0" anchor="ctr">
            <a:normAutofit/>
          </a:bodyPr>
          <a:lstStyle/>
          <a:p>
            <a:pPr marL="0" indent="0" algn="ctr">
              <a:buNone/>
            </a:pPr>
            <a:r>
              <a:rPr lang="en-US" sz="1300" b="1" dirty="0">
                <a:solidFill>
                  <a:srgbClr val="1A202C"/>
                </a:solidFill>
              </a:rPr>
              <a:t>outlier</a:t>
            </a:r>
            <a:endParaRPr lang="en-US" sz="1300" dirty="0"/>
          </a:p>
        </p:txBody>
      </p:sp>
      <p:sp>
        <p:nvSpPr>
          <p:cNvPr id="16" name="Text 14"/>
          <p:cNvSpPr/>
          <p:nvPr/>
        </p:nvSpPr>
        <p:spPr>
          <a:xfrm>
            <a:off x="822960" y="4114800"/>
            <a:ext cx="10424160" cy="411480"/>
          </a:xfrm>
          <a:prstGeom prst="rect">
            <a:avLst/>
          </a:prstGeom>
          <a:noFill/>
          <a:ln/>
        </p:spPr>
        <p:txBody>
          <a:bodyPr wrap="square" lIns="254" tIns="254" rIns="254" bIns="254" rtlCol="0" anchor="ctr"/>
          <a:lstStyle/>
          <a:p>
            <a:pPr marL="0" indent="0" algn="ctr">
              <a:buNone/>
            </a:pPr>
            <a:r>
              <a:rPr lang="en-US" sz="2300" b="1" dirty="0">
                <a:solidFill>
                  <a:srgbClr val="0F766E"/>
                </a:solidFill>
              </a:rPr>
              <a:t>Output: issue_type, computed_severity, requires_review</a:t>
            </a:r>
            <a:endParaRPr lang="en-US" sz="2300" dirty="0"/>
          </a:p>
        </p:txBody>
      </p:sp>
      <p:sp>
        <p:nvSpPr>
          <p:cNvPr id="18" name="Text 15"/>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What do we improve in the prototype?</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Goal: usable, verifiable, integrable code.</a:t>
            </a:r>
            <a:endParaRPr lang="en-US" sz="1150" dirty="0"/>
          </a:p>
        </p:txBody>
      </p:sp>
      <p:sp>
        <p:nvSpPr>
          <p:cNvPr id="4" name="Shape 2"/>
          <p:cNvSpPr/>
          <p:nvPr/>
        </p:nvSpPr>
        <p:spPr>
          <a:xfrm>
            <a:off x="914400" y="1508760"/>
            <a:ext cx="2377440" cy="685800"/>
          </a:xfrm>
          <a:prstGeom prst="roundRect">
            <a:avLst>
              <a:gd name="adj" fmla="val 10667"/>
            </a:avLst>
          </a:prstGeom>
          <a:solidFill>
            <a:srgbClr val="FED7D7"/>
          </a:solidFill>
          <a:ln w="12700">
            <a:solidFill>
              <a:srgbClr val="CBD5E0">
                <a:alpha val="70000"/>
              </a:srgbClr>
            </a:solidFill>
            <a:prstDash val="solid"/>
          </a:ln>
        </p:spPr>
        <p:txBody>
          <a:bodyPr/>
          <a:lstStyle/>
          <a:p>
            <a:endParaRPr lang="hu-HU"/>
          </a:p>
        </p:txBody>
      </p:sp>
      <p:sp>
        <p:nvSpPr>
          <p:cNvPr id="5" name="Text 3"/>
          <p:cNvSpPr/>
          <p:nvPr/>
        </p:nvSpPr>
        <p:spPr>
          <a:xfrm>
            <a:off x="1042416" y="1618488"/>
            <a:ext cx="212140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Hardcoded path</a:t>
            </a:r>
            <a:endParaRPr lang="en-US" sz="1400" dirty="0"/>
          </a:p>
        </p:txBody>
      </p:sp>
      <p:sp>
        <p:nvSpPr>
          <p:cNvPr id="6" name="Shape 4"/>
          <p:cNvSpPr/>
          <p:nvPr/>
        </p:nvSpPr>
        <p:spPr>
          <a:xfrm>
            <a:off x="3383280" y="1847088"/>
            <a:ext cx="594360" cy="0"/>
          </a:xfrm>
          <a:prstGeom prst="line">
            <a:avLst/>
          </a:prstGeom>
          <a:noFill/>
          <a:ln w="25400">
            <a:solidFill>
              <a:srgbClr val="4A5568"/>
            </a:solidFill>
            <a:prstDash val="solid"/>
            <a:headEnd type="none"/>
            <a:tailEnd type="triangle"/>
          </a:ln>
        </p:spPr>
        <p:txBody>
          <a:bodyPr/>
          <a:lstStyle/>
          <a:p>
            <a:endParaRPr lang="hu-HU"/>
          </a:p>
        </p:txBody>
      </p:sp>
      <p:sp>
        <p:nvSpPr>
          <p:cNvPr id="7" name="Shape 5"/>
          <p:cNvSpPr/>
          <p:nvPr/>
        </p:nvSpPr>
        <p:spPr>
          <a:xfrm>
            <a:off x="4114800" y="1508760"/>
            <a:ext cx="2103120" cy="685800"/>
          </a:xfrm>
          <a:prstGeom prst="roundRect">
            <a:avLst>
              <a:gd name="adj" fmla="val 10667"/>
            </a:avLst>
          </a:prstGeom>
          <a:solidFill>
            <a:srgbClr val="C6F6D5"/>
          </a:solidFill>
          <a:ln w="12700">
            <a:solidFill>
              <a:srgbClr val="CBD5E0">
                <a:alpha val="70000"/>
              </a:srgbClr>
            </a:solidFill>
            <a:prstDash val="solid"/>
          </a:ln>
        </p:spPr>
        <p:txBody>
          <a:bodyPr/>
          <a:lstStyle/>
          <a:p>
            <a:endParaRPr lang="hu-HU"/>
          </a:p>
        </p:txBody>
      </p:sp>
      <p:sp>
        <p:nvSpPr>
          <p:cNvPr id="8" name="Text 6"/>
          <p:cNvSpPr/>
          <p:nvPr/>
        </p:nvSpPr>
        <p:spPr>
          <a:xfrm>
            <a:off x="4242816" y="1618488"/>
            <a:ext cx="184708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parameter</a:t>
            </a:r>
            <a:endParaRPr lang="en-US" sz="1400" dirty="0"/>
          </a:p>
        </p:txBody>
      </p:sp>
      <p:sp>
        <p:nvSpPr>
          <p:cNvPr id="9" name="Shape 7"/>
          <p:cNvSpPr/>
          <p:nvPr/>
        </p:nvSpPr>
        <p:spPr>
          <a:xfrm>
            <a:off x="914400" y="2514600"/>
            <a:ext cx="2377440" cy="685800"/>
          </a:xfrm>
          <a:prstGeom prst="roundRect">
            <a:avLst>
              <a:gd name="adj" fmla="val 10667"/>
            </a:avLst>
          </a:prstGeom>
          <a:solidFill>
            <a:srgbClr val="FED7D7"/>
          </a:solidFill>
          <a:ln w="12700">
            <a:solidFill>
              <a:srgbClr val="CBD5E0">
                <a:alpha val="70000"/>
              </a:srgbClr>
            </a:solidFill>
            <a:prstDash val="solid"/>
          </a:ln>
        </p:spPr>
        <p:txBody>
          <a:bodyPr/>
          <a:lstStyle/>
          <a:p>
            <a:endParaRPr lang="hu-HU"/>
          </a:p>
        </p:txBody>
      </p:sp>
      <p:sp>
        <p:nvSpPr>
          <p:cNvPr id="10" name="Text 8"/>
          <p:cNvSpPr/>
          <p:nvPr/>
        </p:nvSpPr>
        <p:spPr>
          <a:xfrm>
            <a:off x="1042416" y="2624328"/>
            <a:ext cx="212140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print()</a:t>
            </a:r>
            <a:endParaRPr lang="en-US" sz="1400" dirty="0"/>
          </a:p>
        </p:txBody>
      </p:sp>
      <p:sp>
        <p:nvSpPr>
          <p:cNvPr id="11" name="Shape 9"/>
          <p:cNvSpPr/>
          <p:nvPr/>
        </p:nvSpPr>
        <p:spPr>
          <a:xfrm>
            <a:off x="3383280" y="2852928"/>
            <a:ext cx="594360" cy="0"/>
          </a:xfrm>
          <a:prstGeom prst="line">
            <a:avLst/>
          </a:prstGeom>
          <a:noFill/>
          <a:ln w="25400">
            <a:solidFill>
              <a:srgbClr val="4A5568"/>
            </a:solidFill>
            <a:prstDash val="solid"/>
            <a:headEnd type="none"/>
            <a:tailEnd type="triangle"/>
          </a:ln>
        </p:spPr>
        <p:txBody>
          <a:bodyPr/>
          <a:lstStyle/>
          <a:p>
            <a:endParaRPr lang="hu-HU"/>
          </a:p>
        </p:txBody>
      </p:sp>
      <p:sp>
        <p:nvSpPr>
          <p:cNvPr id="12" name="Shape 10"/>
          <p:cNvSpPr/>
          <p:nvPr/>
        </p:nvSpPr>
        <p:spPr>
          <a:xfrm>
            <a:off x="4114800" y="2514600"/>
            <a:ext cx="2103120" cy="685800"/>
          </a:xfrm>
          <a:prstGeom prst="roundRect">
            <a:avLst>
              <a:gd name="adj" fmla="val 10667"/>
            </a:avLst>
          </a:prstGeom>
          <a:solidFill>
            <a:srgbClr val="C6F6D5"/>
          </a:solidFill>
          <a:ln w="12700">
            <a:solidFill>
              <a:srgbClr val="CBD5E0">
                <a:alpha val="70000"/>
              </a:srgbClr>
            </a:solidFill>
            <a:prstDash val="solid"/>
          </a:ln>
        </p:spPr>
        <p:txBody>
          <a:bodyPr/>
          <a:lstStyle/>
          <a:p>
            <a:endParaRPr lang="hu-HU"/>
          </a:p>
        </p:txBody>
      </p:sp>
      <p:sp>
        <p:nvSpPr>
          <p:cNvPr id="13" name="Text 11"/>
          <p:cNvSpPr/>
          <p:nvPr/>
        </p:nvSpPr>
        <p:spPr>
          <a:xfrm>
            <a:off x="4242816" y="2624328"/>
            <a:ext cx="184708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return value</a:t>
            </a:r>
            <a:endParaRPr lang="en-US" sz="1400" dirty="0"/>
          </a:p>
        </p:txBody>
      </p:sp>
      <p:sp>
        <p:nvSpPr>
          <p:cNvPr id="14" name="Shape 12"/>
          <p:cNvSpPr/>
          <p:nvPr/>
        </p:nvSpPr>
        <p:spPr>
          <a:xfrm>
            <a:off x="914400" y="3520440"/>
            <a:ext cx="2377440" cy="685800"/>
          </a:xfrm>
          <a:prstGeom prst="roundRect">
            <a:avLst>
              <a:gd name="adj" fmla="val 10667"/>
            </a:avLst>
          </a:prstGeom>
          <a:solidFill>
            <a:srgbClr val="FED7D7"/>
          </a:solidFill>
          <a:ln w="12700">
            <a:solidFill>
              <a:srgbClr val="CBD5E0">
                <a:alpha val="70000"/>
              </a:srgbClr>
            </a:solidFill>
            <a:prstDash val="solid"/>
          </a:ln>
        </p:spPr>
        <p:txBody>
          <a:bodyPr/>
          <a:lstStyle/>
          <a:p>
            <a:endParaRPr lang="hu-HU"/>
          </a:p>
        </p:txBody>
      </p:sp>
      <p:sp>
        <p:nvSpPr>
          <p:cNvPr id="15" name="Text 13"/>
          <p:cNvSpPr/>
          <p:nvPr/>
        </p:nvSpPr>
        <p:spPr>
          <a:xfrm>
            <a:off x="1042416" y="3630168"/>
            <a:ext cx="212140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global state</a:t>
            </a:r>
            <a:endParaRPr lang="en-US" sz="1400" dirty="0"/>
          </a:p>
        </p:txBody>
      </p:sp>
      <p:sp>
        <p:nvSpPr>
          <p:cNvPr id="16" name="Shape 14"/>
          <p:cNvSpPr/>
          <p:nvPr/>
        </p:nvSpPr>
        <p:spPr>
          <a:xfrm>
            <a:off x="3383280" y="3858768"/>
            <a:ext cx="594360" cy="0"/>
          </a:xfrm>
          <a:prstGeom prst="line">
            <a:avLst/>
          </a:prstGeom>
          <a:noFill/>
          <a:ln w="25400">
            <a:solidFill>
              <a:srgbClr val="4A5568"/>
            </a:solidFill>
            <a:prstDash val="solid"/>
            <a:headEnd type="none"/>
            <a:tailEnd type="triangle"/>
          </a:ln>
        </p:spPr>
        <p:txBody>
          <a:bodyPr/>
          <a:lstStyle/>
          <a:p>
            <a:endParaRPr lang="hu-HU"/>
          </a:p>
        </p:txBody>
      </p:sp>
      <p:sp>
        <p:nvSpPr>
          <p:cNvPr id="17" name="Shape 15"/>
          <p:cNvSpPr/>
          <p:nvPr/>
        </p:nvSpPr>
        <p:spPr>
          <a:xfrm>
            <a:off x="4114800" y="3520440"/>
            <a:ext cx="2103120" cy="685800"/>
          </a:xfrm>
          <a:prstGeom prst="roundRect">
            <a:avLst>
              <a:gd name="adj" fmla="val 10667"/>
            </a:avLst>
          </a:prstGeom>
          <a:solidFill>
            <a:srgbClr val="C6F6D5"/>
          </a:solidFill>
          <a:ln w="12700">
            <a:solidFill>
              <a:srgbClr val="CBD5E0">
                <a:alpha val="70000"/>
              </a:srgbClr>
            </a:solidFill>
            <a:prstDash val="solid"/>
          </a:ln>
        </p:spPr>
        <p:txBody>
          <a:bodyPr/>
          <a:lstStyle/>
          <a:p>
            <a:endParaRPr lang="hu-HU"/>
          </a:p>
        </p:txBody>
      </p:sp>
      <p:sp>
        <p:nvSpPr>
          <p:cNvPr id="18" name="Text 16"/>
          <p:cNvSpPr/>
          <p:nvPr/>
        </p:nvSpPr>
        <p:spPr>
          <a:xfrm>
            <a:off x="4242816" y="3630168"/>
            <a:ext cx="184708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function</a:t>
            </a:r>
            <a:endParaRPr lang="en-US" sz="1400" dirty="0"/>
          </a:p>
        </p:txBody>
      </p:sp>
      <p:sp>
        <p:nvSpPr>
          <p:cNvPr id="19" name="Shape 17"/>
          <p:cNvSpPr/>
          <p:nvPr/>
        </p:nvSpPr>
        <p:spPr>
          <a:xfrm>
            <a:off x="914400" y="4526280"/>
            <a:ext cx="2377440" cy="685800"/>
          </a:xfrm>
          <a:prstGeom prst="roundRect">
            <a:avLst>
              <a:gd name="adj" fmla="val 10667"/>
            </a:avLst>
          </a:prstGeom>
          <a:solidFill>
            <a:srgbClr val="FED7D7"/>
          </a:solidFill>
          <a:ln w="12700">
            <a:solidFill>
              <a:srgbClr val="CBD5E0">
                <a:alpha val="70000"/>
              </a:srgbClr>
            </a:solidFill>
            <a:prstDash val="solid"/>
          </a:ln>
        </p:spPr>
        <p:txBody>
          <a:bodyPr/>
          <a:lstStyle/>
          <a:p>
            <a:endParaRPr lang="hu-HU"/>
          </a:p>
        </p:txBody>
      </p:sp>
      <p:sp>
        <p:nvSpPr>
          <p:cNvPr id="20" name="Text 18"/>
          <p:cNvSpPr/>
          <p:nvPr/>
        </p:nvSpPr>
        <p:spPr>
          <a:xfrm>
            <a:off x="1042416" y="4636008"/>
            <a:ext cx="212140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manual check</a:t>
            </a:r>
            <a:endParaRPr lang="en-US" sz="1400" dirty="0"/>
          </a:p>
        </p:txBody>
      </p:sp>
      <p:sp>
        <p:nvSpPr>
          <p:cNvPr id="21" name="Shape 19"/>
          <p:cNvSpPr/>
          <p:nvPr/>
        </p:nvSpPr>
        <p:spPr>
          <a:xfrm>
            <a:off x="3383280" y="4864608"/>
            <a:ext cx="594360" cy="0"/>
          </a:xfrm>
          <a:prstGeom prst="line">
            <a:avLst/>
          </a:prstGeom>
          <a:noFill/>
          <a:ln w="25400">
            <a:solidFill>
              <a:srgbClr val="4A5568"/>
            </a:solidFill>
            <a:prstDash val="solid"/>
            <a:headEnd type="none"/>
            <a:tailEnd type="triangle"/>
          </a:ln>
        </p:spPr>
        <p:txBody>
          <a:bodyPr/>
          <a:lstStyle/>
          <a:p>
            <a:endParaRPr lang="hu-HU"/>
          </a:p>
        </p:txBody>
      </p:sp>
      <p:sp>
        <p:nvSpPr>
          <p:cNvPr id="22" name="Shape 20"/>
          <p:cNvSpPr/>
          <p:nvPr/>
        </p:nvSpPr>
        <p:spPr>
          <a:xfrm>
            <a:off x="4114800" y="4526280"/>
            <a:ext cx="2103120" cy="685800"/>
          </a:xfrm>
          <a:prstGeom prst="roundRect">
            <a:avLst>
              <a:gd name="adj" fmla="val 10667"/>
            </a:avLst>
          </a:prstGeom>
          <a:solidFill>
            <a:srgbClr val="C6F6D5"/>
          </a:solidFill>
          <a:ln w="12700">
            <a:solidFill>
              <a:srgbClr val="CBD5E0">
                <a:alpha val="70000"/>
              </a:srgbClr>
            </a:solidFill>
            <a:prstDash val="solid"/>
          </a:ln>
        </p:spPr>
        <p:txBody>
          <a:bodyPr/>
          <a:lstStyle/>
          <a:p>
            <a:endParaRPr lang="hu-HU"/>
          </a:p>
        </p:txBody>
      </p:sp>
      <p:sp>
        <p:nvSpPr>
          <p:cNvPr id="23" name="Text 21"/>
          <p:cNvSpPr/>
          <p:nvPr/>
        </p:nvSpPr>
        <p:spPr>
          <a:xfrm>
            <a:off x="4242816" y="4636008"/>
            <a:ext cx="1847088" cy="46634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test + output</a:t>
            </a:r>
            <a:endParaRPr lang="en-US" sz="1400" dirty="0"/>
          </a:p>
        </p:txBody>
      </p:sp>
      <p:sp>
        <p:nvSpPr>
          <p:cNvPr id="24" name="Text 22"/>
          <p:cNvSpPr/>
          <p:nvPr/>
        </p:nvSpPr>
        <p:spPr>
          <a:xfrm>
            <a:off x="6720840" y="2194560"/>
            <a:ext cx="4297680" cy="1097280"/>
          </a:xfrm>
          <a:prstGeom prst="rect">
            <a:avLst/>
          </a:prstGeom>
          <a:noFill/>
          <a:ln/>
        </p:spPr>
        <p:txBody>
          <a:bodyPr wrap="square" lIns="381" tIns="381" rIns="381" bIns="381" rtlCol="0" anchor="ctr">
            <a:normAutofit/>
          </a:bodyPr>
          <a:lstStyle/>
          <a:p>
            <a:pPr marL="0" indent="0" algn="ctr">
              <a:buNone/>
            </a:pPr>
            <a:r>
              <a:rPr lang="en-US" sz="2600" b="1" dirty="0">
                <a:solidFill>
                  <a:srgbClr val="1E2A44"/>
                </a:solidFill>
              </a:rPr>
              <a:t>Not “clean code” for its own sake, but for later integration.</a:t>
            </a:r>
            <a:endParaRPr lang="en-US" sz="2600" dirty="0"/>
          </a:p>
        </p:txBody>
      </p:sp>
      <p:sp>
        <p:nvSpPr>
          <p:cNvPr id="25" name="Text 23"/>
          <p:cNvSpPr/>
          <p:nvPr/>
        </p:nvSpPr>
        <p:spPr>
          <a:xfrm>
            <a:off x="6858000" y="3977640"/>
            <a:ext cx="4023360" cy="365760"/>
          </a:xfrm>
          <a:prstGeom prst="rect">
            <a:avLst/>
          </a:prstGeom>
          <a:noFill/>
          <a:ln/>
        </p:spPr>
        <p:txBody>
          <a:bodyPr wrap="square" lIns="0" tIns="0" rIns="0" bIns="0" rtlCol="0" anchor="ctr"/>
          <a:lstStyle/>
          <a:p>
            <a:pPr marL="0" indent="0" algn="ctr">
              <a:buNone/>
            </a:pPr>
            <a:r>
              <a:rPr lang="en-US" sz="2100" b="1" dirty="0">
                <a:solidFill>
                  <a:srgbClr val="0F766E"/>
                </a:solidFill>
              </a:rPr>
              <a:t>app • API • flow • batch job</a:t>
            </a:r>
            <a:endParaRPr lang="en-US" sz="2100" dirty="0"/>
          </a:p>
        </p:txBody>
      </p:sp>
      <p:sp>
        <p:nvSpPr>
          <p:cNvPr id="27" name="Text 24"/>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AI assistant during the lab</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Useful, but it does not replace verification.</a:t>
            </a:r>
            <a:endParaRPr lang="en-US" sz="1150" dirty="0"/>
          </a:p>
        </p:txBody>
      </p:sp>
      <p:sp>
        <p:nvSpPr>
          <p:cNvPr id="4" name="Text 2"/>
          <p:cNvSpPr/>
          <p:nvPr/>
        </p:nvSpPr>
        <p:spPr>
          <a:xfrm>
            <a:off x="914400" y="1463040"/>
            <a:ext cx="2743200" cy="256032"/>
          </a:xfrm>
          <a:prstGeom prst="rect">
            <a:avLst/>
          </a:prstGeom>
          <a:noFill/>
          <a:ln/>
        </p:spPr>
        <p:txBody>
          <a:bodyPr wrap="square" lIns="0" tIns="0" rIns="0" bIns="0" rtlCol="0" anchor="ctr"/>
          <a:lstStyle/>
          <a:p>
            <a:pPr marL="0" indent="0">
              <a:buNone/>
            </a:pPr>
            <a:r>
              <a:rPr lang="en-US" sz="1800" b="1" dirty="0">
                <a:solidFill>
                  <a:srgbClr val="2F855A"/>
                </a:solidFill>
              </a:rPr>
              <a:t>Useful</a:t>
            </a:r>
            <a:endParaRPr lang="en-US" sz="1800" dirty="0"/>
          </a:p>
        </p:txBody>
      </p:sp>
      <p:sp>
        <p:nvSpPr>
          <p:cNvPr id="5" name="Text 3"/>
          <p:cNvSpPr/>
          <p:nvPr/>
        </p:nvSpPr>
        <p:spPr>
          <a:xfrm>
            <a:off x="914400" y="1874520"/>
            <a:ext cx="4023360" cy="2103120"/>
          </a:xfrm>
          <a:prstGeom prst="rect">
            <a:avLst/>
          </a:prstGeom>
          <a:noFill/>
          <a:ln/>
        </p:spPr>
        <p:txBody>
          <a:bodyPr wrap="square" lIns="1016" tIns="1016" rIns="1016" bIns="1016" rtlCol="0" anchor="ctr">
            <a:normAutofit/>
          </a:bodyPr>
          <a:lstStyle/>
          <a:p>
            <a:r>
              <a:rPr lang="en-US" sz="1600" dirty="0">
                <a:solidFill>
                  <a:srgbClr val="1A202C"/>
                </a:solidFill>
              </a:rPr>
              <a:t>completing function skeletons</a:t>
            </a:r>
            <a:endParaRPr lang="en-US" sz="1600" dirty="0"/>
          </a:p>
          <a:p>
            <a:r>
              <a:rPr lang="en-US" sz="1600" dirty="0">
                <a:solidFill>
                  <a:srgbClr val="1A202C"/>
                </a:solidFill>
              </a:rPr>
              <a:t>brainstorming pandas code</a:t>
            </a:r>
            <a:endParaRPr lang="en-US" sz="1600" dirty="0"/>
          </a:p>
          <a:p>
            <a:r>
              <a:rPr lang="en-US" sz="1600" dirty="0">
                <a:solidFill>
                  <a:srgbClr val="1A202C"/>
                </a:solidFill>
              </a:rPr>
              <a:t>generating pytest tests</a:t>
            </a:r>
            <a:endParaRPr lang="en-US" sz="1600" dirty="0"/>
          </a:p>
          <a:p>
            <a:r>
              <a:rPr lang="en-US" sz="1600" dirty="0">
                <a:solidFill>
                  <a:srgbClr val="1A202C"/>
                </a:solidFill>
              </a:rPr>
              <a:t>explaining error messages</a:t>
            </a:r>
            <a:endParaRPr lang="en-US" sz="1600" dirty="0"/>
          </a:p>
        </p:txBody>
      </p:sp>
      <p:sp>
        <p:nvSpPr>
          <p:cNvPr id="6" name="Text 4"/>
          <p:cNvSpPr/>
          <p:nvPr/>
        </p:nvSpPr>
        <p:spPr>
          <a:xfrm>
            <a:off x="6400800" y="1463040"/>
            <a:ext cx="2743200" cy="256032"/>
          </a:xfrm>
          <a:prstGeom prst="rect">
            <a:avLst/>
          </a:prstGeom>
          <a:noFill/>
          <a:ln/>
        </p:spPr>
        <p:txBody>
          <a:bodyPr wrap="square" lIns="0" tIns="0" rIns="0" bIns="0" rtlCol="0" anchor="ctr"/>
          <a:lstStyle/>
          <a:p>
            <a:pPr marL="0" indent="0">
              <a:buNone/>
            </a:pPr>
            <a:r>
              <a:rPr lang="en-US" sz="1800" b="1" dirty="0">
                <a:solidFill>
                  <a:srgbClr val="C53030"/>
                </a:solidFill>
              </a:rPr>
              <a:t>Risky</a:t>
            </a:r>
            <a:endParaRPr lang="en-US" sz="1800" dirty="0"/>
          </a:p>
        </p:txBody>
      </p:sp>
      <p:sp>
        <p:nvSpPr>
          <p:cNvPr id="7" name="Text 5"/>
          <p:cNvSpPr/>
          <p:nvPr/>
        </p:nvSpPr>
        <p:spPr>
          <a:xfrm>
            <a:off x="6400800" y="1874520"/>
            <a:ext cx="4114800" cy="2103120"/>
          </a:xfrm>
          <a:prstGeom prst="rect">
            <a:avLst/>
          </a:prstGeom>
          <a:noFill/>
          <a:ln/>
        </p:spPr>
        <p:txBody>
          <a:bodyPr wrap="square" lIns="1016" tIns="1016" rIns="1016" bIns="1016" rtlCol="0" anchor="ctr">
            <a:normAutofit/>
          </a:bodyPr>
          <a:lstStyle/>
          <a:p>
            <a:r>
              <a:rPr lang="en-US" sz="1600" dirty="0">
                <a:solidFill>
                  <a:srgbClr val="1A202C"/>
                </a:solidFill>
              </a:rPr>
              <a:t>assuming nonexistent APIs or columns</a:t>
            </a:r>
            <a:endParaRPr lang="en-US" sz="1600" dirty="0"/>
          </a:p>
          <a:p>
            <a:r>
              <a:rPr lang="en-US" sz="1600" dirty="0">
                <a:solidFill>
                  <a:srgbClr val="1A202C"/>
                </a:solidFill>
              </a:rPr>
              <a:t>ignoring the task contract</a:t>
            </a:r>
            <a:endParaRPr lang="en-US" sz="1600" dirty="0"/>
          </a:p>
          <a:p>
            <a:r>
              <a:rPr lang="en-US" sz="1600" dirty="0">
                <a:solidFill>
                  <a:srgbClr val="1A202C"/>
                </a:solidFill>
              </a:rPr>
              <a:t>accepting code without tests</a:t>
            </a:r>
            <a:endParaRPr lang="en-US" sz="1600" dirty="0"/>
          </a:p>
          <a:p>
            <a:r>
              <a:rPr lang="en-US" sz="1600" dirty="0">
                <a:solidFill>
                  <a:srgbClr val="1A202C"/>
                </a:solidFill>
              </a:rPr>
              <a:t>pasting sensitive data</a:t>
            </a:r>
            <a:endParaRPr lang="en-US" sz="1600" dirty="0"/>
          </a:p>
        </p:txBody>
      </p:sp>
      <p:sp>
        <p:nvSpPr>
          <p:cNvPr id="8" name="Shape 6"/>
          <p:cNvSpPr/>
          <p:nvPr/>
        </p:nvSpPr>
        <p:spPr>
          <a:xfrm>
            <a:off x="5897880" y="1417320"/>
            <a:ext cx="0" cy="3749040"/>
          </a:xfrm>
          <a:prstGeom prst="line">
            <a:avLst/>
          </a:prstGeom>
          <a:noFill/>
          <a:ln w="15240">
            <a:solidFill>
              <a:srgbClr val="CBD5E0"/>
            </a:solidFill>
            <a:prstDash val="solid"/>
          </a:ln>
        </p:spPr>
        <p:txBody>
          <a:bodyPr/>
          <a:lstStyle/>
          <a:p>
            <a:endParaRPr lang="hu-HU"/>
          </a:p>
        </p:txBody>
      </p:sp>
      <p:sp>
        <p:nvSpPr>
          <p:cNvPr id="9" name="Text 7"/>
          <p:cNvSpPr/>
          <p:nvPr/>
        </p:nvSpPr>
        <p:spPr>
          <a:xfrm>
            <a:off x="1097280" y="4983480"/>
            <a:ext cx="9966960" cy="502920"/>
          </a:xfrm>
          <a:prstGeom prst="rect">
            <a:avLst/>
          </a:prstGeom>
          <a:noFill/>
          <a:ln/>
        </p:spPr>
        <p:txBody>
          <a:bodyPr wrap="square" lIns="381" tIns="381" rIns="381" bIns="381" rtlCol="0" anchor="ctr">
            <a:normAutofit/>
          </a:bodyPr>
          <a:lstStyle/>
          <a:p>
            <a:pPr marL="0" indent="0" algn="ctr">
              <a:buNone/>
            </a:pPr>
            <a:r>
              <a:rPr lang="en-US" sz="2000" b="1" dirty="0">
                <a:solidFill>
                  <a:srgbClr val="1E2A44"/>
                </a:solidFill>
              </a:rPr>
              <a:t>Today’s rule: anything AI-generated must be checked by running it, inspecting the output, and using at least one test.</a:t>
            </a:r>
            <a:endParaRPr lang="en-US" sz="2000" dirty="0"/>
          </a:p>
        </p:txBody>
      </p:sp>
      <p:sp>
        <p:nvSpPr>
          <p:cNvPr id="11" name="Text 8"/>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Lab: what do we build?</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Everyone starts from the same starter package.</a:t>
            </a:r>
            <a:endParaRPr lang="en-US" sz="1150" dirty="0"/>
          </a:p>
        </p:txBody>
      </p:sp>
      <p:sp>
        <p:nvSpPr>
          <p:cNvPr id="4" name="Shape 2"/>
          <p:cNvSpPr/>
          <p:nvPr/>
        </p:nvSpPr>
        <p:spPr>
          <a:xfrm>
            <a:off x="731520" y="1417320"/>
            <a:ext cx="3383280" cy="594360"/>
          </a:xfrm>
          <a:prstGeom prst="roundRect">
            <a:avLst>
              <a:gd name="adj" fmla="val 12308"/>
            </a:avLst>
          </a:prstGeom>
          <a:solidFill>
            <a:srgbClr val="F7FAFC"/>
          </a:solidFill>
          <a:ln w="12700">
            <a:solidFill>
              <a:srgbClr val="CBD5E0">
                <a:alpha val="70000"/>
              </a:srgbClr>
            </a:solidFill>
            <a:prstDash val="solid"/>
          </a:ln>
        </p:spPr>
        <p:txBody>
          <a:bodyPr/>
          <a:lstStyle/>
          <a:p>
            <a:endParaRPr lang="hu-HU"/>
          </a:p>
        </p:txBody>
      </p:sp>
      <p:sp>
        <p:nvSpPr>
          <p:cNvPr id="5" name="Text 3"/>
          <p:cNvSpPr/>
          <p:nvPr/>
        </p:nvSpPr>
        <p:spPr>
          <a:xfrm>
            <a:off x="859536" y="1527048"/>
            <a:ext cx="3127248" cy="37490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1. Understand prototype.py</a:t>
            </a:r>
            <a:endParaRPr lang="en-US" sz="1400" dirty="0"/>
          </a:p>
        </p:txBody>
      </p:sp>
      <p:sp>
        <p:nvSpPr>
          <p:cNvPr id="6" name="Shape 4"/>
          <p:cNvSpPr/>
          <p:nvPr/>
        </p:nvSpPr>
        <p:spPr>
          <a:xfrm>
            <a:off x="731520" y="2148840"/>
            <a:ext cx="3383280" cy="594360"/>
          </a:xfrm>
          <a:prstGeom prst="roundRect">
            <a:avLst>
              <a:gd name="adj" fmla="val 12308"/>
            </a:avLst>
          </a:prstGeom>
          <a:solidFill>
            <a:srgbClr val="E6FFFA"/>
          </a:solidFill>
          <a:ln w="12700">
            <a:solidFill>
              <a:srgbClr val="CBD5E0">
                <a:alpha val="70000"/>
              </a:srgbClr>
            </a:solidFill>
            <a:prstDash val="solid"/>
          </a:ln>
        </p:spPr>
        <p:txBody>
          <a:bodyPr/>
          <a:lstStyle/>
          <a:p>
            <a:endParaRPr lang="hu-HU"/>
          </a:p>
        </p:txBody>
      </p:sp>
      <p:sp>
        <p:nvSpPr>
          <p:cNvPr id="7" name="Text 5"/>
          <p:cNvSpPr/>
          <p:nvPr/>
        </p:nvSpPr>
        <p:spPr>
          <a:xfrm>
            <a:off x="859536" y="2258568"/>
            <a:ext cx="3127248" cy="37490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2. Complete pipeline.py functions</a:t>
            </a:r>
            <a:endParaRPr lang="en-US" sz="1400" dirty="0"/>
          </a:p>
        </p:txBody>
      </p:sp>
      <p:sp>
        <p:nvSpPr>
          <p:cNvPr id="8" name="Shape 6"/>
          <p:cNvSpPr/>
          <p:nvPr/>
        </p:nvSpPr>
        <p:spPr>
          <a:xfrm>
            <a:off x="731520" y="2880360"/>
            <a:ext cx="3383280" cy="594360"/>
          </a:xfrm>
          <a:prstGeom prst="roundRect">
            <a:avLst>
              <a:gd name="adj" fmla="val 12308"/>
            </a:avLst>
          </a:prstGeom>
          <a:solidFill>
            <a:srgbClr val="EBF8FF"/>
          </a:solidFill>
          <a:ln w="12700">
            <a:solidFill>
              <a:srgbClr val="CBD5E0">
                <a:alpha val="70000"/>
              </a:srgbClr>
            </a:solidFill>
            <a:prstDash val="solid"/>
          </a:ln>
        </p:spPr>
        <p:txBody>
          <a:bodyPr/>
          <a:lstStyle/>
          <a:p>
            <a:endParaRPr lang="hu-HU"/>
          </a:p>
        </p:txBody>
      </p:sp>
      <p:sp>
        <p:nvSpPr>
          <p:cNvPr id="9" name="Text 7"/>
          <p:cNvSpPr/>
          <p:nvPr/>
        </p:nvSpPr>
        <p:spPr>
          <a:xfrm>
            <a:off x="859536" y="2990088"/>
            <a:ext cx="3127248" cy="37490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3. Run the CLI</a:t>
            </a:r>
            <a:endParaRPr lang="en-US" sz="1400" dirty="0"/>
          </a:p>
        </p:txBody>
      </p:sp>
      <p:sp>
        <p:nvSpPr>
          <p:cNvPr id="10" name="Shape 8"/>
          <p:cNvSpPr/>
          <p:nvPr/>
        </p:nvSpPr>
        <p:spPr>
          <a:xfrm>
            <a:off x="731520" y="3611880"/>
            <a:ext cx="3383280" cy="594360"/>
          </a:xfrm>
          <a:prstGeom prst="roundRect">
            <a:avLst>
              <a:gd name="adj" fmla="val 12308"/>
            </a:avLst>
          </a:prstGeom>
          <a:solidFill>
            <a:srgbClr val="FEFCBF"/>
          </a:solidFill>
          <a:ln w="12700">
            <a:solidFill>
              <a:srgbClr val="CBD5E0">
                <a:alpha val="70000"/>
              </a:srgbClr>
            </a:solidFill>
            <a:prstDash val="solid"/>
          </a:ln>
        </p:spPr>
        <p:txBody>
          <a:bodyPr/>
          <a:lstStyle/>
          <a:p>
            <a:endParaRPr lang="hu-HU"/>
          </a:p>
        </p:txBody>
      </p:sp>
      <p:sp>
        <p:nvSpPr>
          <p:cNvPr id="11" name="Text 9"/>
          <p:cNvSpPr/>
          <p:nvPr/>
        </p:nvSpPr>
        <p:spPr>
          <a:xfrm>
            <a:off x="859536" y="3721608"/>
            <a:ext cx="3127248" cy="37490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4. Run pytest and fix</a:t>
            </a:r>
            <a:endParaRPr lang="en-US" sz="1400" dirty="0"/>
          </a:p>
        </p:txBody>
      </p:sp>
      <p:sp>
        <p:nvSpPr>
          <p:cNvPr id="12" name="Shape 10"/>
          <p:cNvSpPr/>
          <p:nvPr/>
        </p:nvSpPr>
        <p:spPr>
          <a:xfrm>
            <a:off x="731520" y="4343400"/>
            <a:ext cx="3383280" cy="594360"/>
          </a:xfrm>
          <a:prstGeom prst="roundRect">
            <a:avLst>
              <a:gd name="adj" fmla="val 12308"/>
            </a:avLst>
          </a:prstGeom>
          <a:solidFill>
            <a:srgbClr val="FEEBC8"/>
          </a:solidFill>
          <a:ln w="12700">
            <a:solidFill>
              <a:srgbClr val="CBD5E0">
                <a:alpha val="70000"/>
              </a:srgbClr>
            </a:solidFill>
            <a:prstDash val="solid"/>
          </a:ln>
        </p:spPr>
        <p:txBody>
          <a:bodyPr/>
          <a:lstStyle/>
          <a:p>
            <a:endParaRPr lang="hu-HU"/>
          </a:p>
        </p:txBody>
      </p:sp>
      <p:sp>
        <p:nvSpPr>
          <p:cNvPr id="13" name="Text 11"/>
          <p:cNvSpPr/>
          <p:nvPr/>
        </p:nvSpPr>
        <p:spPr>
          <a:xfrm>
            <a:off x="859536" y="4453128"/>
            <a:ext cx="3127248" cy="374904"/>
          </a:xfrm>
          <a:prstGeom prst="rect">
            <a:avLst/>
          </a:prstGeom>
          <a:noFill/>
          <a:ln/>
        </p:spPr>
        <p:txBody>
          <a:bodyPr wrap="square" lIns="254" tIns="254" rIns="254" bIns="254" rtlCol="0" anchor="ctr">
            <a:normAutofit/>
          </a:bodyPr>
          <a:lstStyle/>
          <a:p>
            <a:pPr marL="0" indent="0" algn="ctr">
              <a:buNone/>
            </a:pPr>
            <a:r>
              <a:rPr lang="en-US" sz="1400" b="1" dirty="0">
                <a:solidFill>
                  <a:srgbClr val="1A202C"/>
                </a:solidFill>
              </a:rPr>
              <a:t>5. Short reflection</a:t>
            </a:r>
            <a:endParaRPr lang="en-US" sz="1400" dirty="0"/>
          </a:p>
        </p:txBody>
      </p:sp>
      <p:sp>
        <p:nvSpPr>
          <p:cNvPr id="14" name="Text 12"/>
          <p:cNvSpPr/>
          <p:nvPr/>
        </p:nvSpPr>
        <p:spPr>
          <a:xfrm>
            <a:off x="4846320" y="1463040"/>
            <a:ext cx="1828800" cy="274320"/>
          </a:xfrm>
          <a:prstGeom prst="rect">
            <a:avLst/>
          </a:prstGeom>
          <a:noFill/>
          <a:ln/>
        </p:spPr>
        <p:txBody>
          <a:bodyPr wrap="square" lIns="0" tIns="0" rIns="0" bIns="0" rtlCol="0" anchor="ctr"/>
          <a:lstStyle/>
          <a:p>
            <a:pPr marL="0" indent="0">
              <a:buNone/>
            </a:pPr>
            <a:r>
              <a:rPr lang="en-US" sz="1500" b="1" dirty="0">
                <a:solidFill>
                  <a:srgbClr val="2B6CB0"/>
                </a:solidFill>
              </a:rPr>
              <a:t>Run</a:t>
            </a:r>
            <a:endParaRPr lang="en-US" sz="1500" dirty="0"/>
          </a:p>
        </p:txBody>
      </p:sp>
      <p:sp>
        <p:nvSpPr>
          <p:cNvPr id="15" name="Text 13"/>
          <p:cNvSpPr/>
          <p:nvPr/>
        </p:nvSpPr>
        <p:spPr>
          <a:xfrm>
            <a:off x="4846320" y="1847088"/>
            <a:ext cx="6492240" cy="548640"/>
          </a:xfrm>
          <a:prstGeom prst="rect">
            <a:avLst/>
          </a:prstGeom>
          <a:solidFill>
            <a:srgbClr val="F7FAFC"/>
          </a:solidFill>
          <a:ln>
            <a:solidFill>
              <a:srgbClr val="CBD5E0"/>
            </a:solidFill>
          </a:ln>
        </p:spPr>
        <p:txBody>
          <a:bodyPr wrap="square" lIns="762" tIns="762" rIns="762" bIns="762" rtlCol="0" anchor="ctr">
            <a:normAutofit/>
          </a:bodyPr>
          <a:lstStyle/>
          <a:p>
            <a:pPr marL="0" indent="0">
              <a:buNone/>
            </a:pPr>
            <a:r>
              <a:rPr lang="en-US" sz="1600" dirty="0">
                <a:solidFill>
                  <a:srgbClr val="1A202C"/>
                </a:solidFill>
                <a:latin typeface="Courier New" pitchFamily="34" charset="0"/>
                <a:ea typeface="Courier New" pitchFamily="34" charset="-122"/>
                <a:cs typeface="Courier New" pitchFamily="34" charset="-120"/>
              </a:rPr>
              <a:t>python src/app.py --input data/issues_raw.csv --output data/issues_processed.csv</a:t>
            </a:r>
            <a:endParaRPr lang="en-US" sz="1600" dirty="0"/>
          </a:p>
        </p:txBody>
      </p:sp>
      <p:sp>
        <p:nvSpPr>
          <p:cNvPr id="16" name="Text 14"/>
          <p:cNvSpPr/>
          <p:nvPr/>
        </p:nvSpPr>
        <p:spPr>
          <a:xfrm>
            <a:off x="4846320" y="2926080"/>
            <a:ext cx="1828800" cy="274320"/>
          </a:xfrm>
          <a:prstGeom prst="rect">
            <a:avLst/>
          </a:prstGeom>
          <a:noFill/>
          <a:ln/>
        </p:spPr>
        <p:txBody>
          <a:bodyPr wrap="square" lIns="0" tIns="0" rIns="0" bIns="0" rtlCol="0" anchor="ctr"/>
          <a:lstStyle/>
          <a:p>
            <a:pPr marL="0" indent="0">
              <a:buNone/>
            </a:pPr>
            <a:r>
              <a:rPr lang="en-US" sz="1500" b="1" dirty="0">
                <a:solidFill>
                  <a:srgbClr val="2B6CB0"/>
                </a:solidFill>
              </a:rPr>
              <a:t>Test</a:t>
            </a:r>
            <a:endParaRPr lang="en-US" sz="1500" dirty="0"/>
          </a:p>
        </p:txBody>
      </p:sp>
      <p:sp>
        <p:nvSpPr>
          <p:cNvPr id="17" name="Text 15"/>
          <p:cNvSpPr/>
          <p:nvPr/>
        </p:nvSpPr>
        <p:spPr>
          <a:xfrm>
            <a:off x="4846320" y="3310128"/>
            <a:ext cx="2743200" cy="457200"/>
          </a:xfrm>
          <a:prstGeom prst="rect">
            <a:avLst/>
          </a:prstGeom>
          <a:solidFill>
            <a:srgbClr val="F7FAFC"/>
          </a:solidFill>
          <a:ln>
            <a:solidFill>
              <a:srgbClr val="CBD5E0"/>
            </a:solidFill>
          </a:ln>
        </p:spPr>
        <p:txBody>
          <a:bodyPr wrap="square" lIns="762" tIns="762" rIns="762" bIns="762" rtlCol="0" anchor="ctr"/>
          <a:lstStyle/>
          <a:p>
            <a:pPr marL="0" indent="0">
              <a:buNone/>
            </a:pPr>
            <a:r>
              <a:rPr lang="en-US" sz="1800" dirty="0">
                <a:solidFill>
                  <a:srgbClr val="1A202C"/>
                </a:solidFill>
                <a:latin typeface="Courier New" pitchFamily="34" charset="0"/>
                <a:ea typeface="Courier New" pitchFamily="34" charset="-122"/>
                <a:cs typeface="Courier New" pitchFamily="34" charset="-120"/>
              </a:rPr>
              <a:t>pytest</a:t>
            </a:r>
            <a:endParaRPr lang="en-US" sz="1800" dirty="0"/>
          </a:p>
        </p:txBody>
      </p:sp>
      <p:sp>
        <p:nvSpPr>
          <p:cNvPr id="19" name="Text 16"/>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Minimum and advanced tasks</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Everyone should reach the working minimum; faster students can extend it.</a:t>
            </a:r>
            <a:endParaRPr lang="en-US" sz="1150" dirty="0"/>
          </a:p>
        </p:txBody>
      </p:sp>
      <p:sp>
        <p:nvSpPr>
          <p:cNvPr id="4" name="Text 2"/>
          <p:cNvSpPr/>
          <p:nvPr/>
        </p:nvSpPr>
        <p:spPr>
          <a:xfrm>
            <a:off x="914400" y="1371600"/>
            <a:ext cx="2743200" cy="320040"/>
          </a:xfrm>
          <a:prstGeom prst="rect">
            <a:avLst/>
          </a:prstGeom>
          <a:noFill/>
          <a:ln/>
        </p:spPr>
        <p:txBody>
          <a:bodyPr wrap="square" lIns="0" tIns="0" rIns="0" bIns="0" rtlCol="0" anchor="ctr"/>
          <a:lstStyle/>
          <a:p>
            <a:pPr marL="0" indent="0">
              <a:buNone/>
            </a:pPr>
            <a:r>
              <a:rPr lang="en-US" sz="1900" b="1" dirty="0">
                <a:solidFill>
                  <a:srgbClr val="0F766E"/>
                </a:solidFill>
              </a:rPr>
              <a:t>Minimum</a:t>
            </a:r>
            <a:endParaRPr lang="en-US" sz="1900" dirty="0"/>
          </a:p>
        </p:txBody>
      </p:sp>
      <p:sp>
        <p:nvSpPr>
          <p:cNvPr id="5" name="Text 3"/>
          <p:cNvSpPr/>
          <p:nvPr/>
        </p:nvSpPr>
        <p:spPr>
          <a:xfrm>
            <a:off x="914400" y="1783080"/>
            <a:ext cx="4572000" cy="2468880"/>
          </a:xfrm>
          <a:prstGeom prst="rect">
            <a:avLst/>
          </a:prstGeom>
          <a:noFill/>
          <a:ln/>
        </p:spPr>
        <p:txBody>
          <a:bodyPr wrap="square" lIns="1016" tIns="1016" rIns="1016" bIns="1016" rtlCol="0" anchor="ctr">
            <a:normAutofit/>
          </a:bodyPr>
          <a:lstStyle/>
          <a:p>
            <a:r>
              <a:rPr lang="en-US" sz="1600" dirty="0">
                <a:solidFill>
                  <a:srgbClr val="1A202C"/>
                </a:solidFill>
              </a:rPr>
              <a:t>load + validate works</a:t>
            </a:r>
            <a:endParaRPr lang="en-US" sz="1600" dirty="0"/>
          </a:p>
          <a:p>
            <a:r>
              <a:rPr lang="en-US" sz="1600" dirty="0">
                <a:solidFill>
                  <a:srgbClr val="1A202C"/>
                </a:solidFill>
              </a:rPr>
              <a:t>classify_issue recognizes at least 4 cases</a:t>
            </a:r>
            <a:endParaRPr lang="en-US" sz="1600" dirty="0"/>
          </a:p>
          <a:p>
            <a:r>
              <a:rPr lang="en-US" sz="1600" dirty="0">
                <a:solidFill>
                  <a:srgbClr val="1A202C"/>
                </a:solidFill>
              </a:rPr>
              <a:t>process_cases adds new columns</a:t>
            </a:r>
            <a:endParaRPr lang="en-US" sz="1600" dirty="0"/>
          </a:p>
          <a:p>
            <a:r>
              <a:rPr lang="en-US" sz="1600" dirty="0">
                <a:solidFill>
                  <a:srgbClr val="1A202C"/>
                </a:solidFill>
              </a:rPr>
              <a:t>CLI creates the output CSV</a:t>
            </a:r>
            <a:endParaRPr lang="en-US" sz="1600" dirty="0"/>
          </a:p>
        </p:txBody>
      </p:sp>
      <p:sp>
        <p:nvSpPr>
          <p:cNvPr id="6" name="Text 4"/>
          <p:cNvSpPr/>
          <p:nvPr/>
        </p:nvSpPr>
        <p:spPr>
          <a:xfrm>
            <a:off x="6492240" y="1371600"/>
            <a:ext cx="2743200" cy="320040"/>
          </a:xfrm>
          <a:prstGeom prst="rect">
            <a:avLst/>
          </a:prstGeom>
          <a:noFill/>
          <a:ln/>
        </p:spPr>
        <p:txBody>
          <a:bodyPr wrap="square" lIns="0" tIns="0" rIns="0" bIns="0" rtlCol="0" anchor="ctr"/>
          <a:lstStyle/>
          <a:p>
            <a:pPr marL="0" indent="0">
              <a:buNone/>
            </a:pPr>
            <a:r>
              <a:rPr lang="en-US" sz="1900" b="1" dirty="0">
                <a:solidFill>
                  <a:srgbClr val="C05621"/>
                </a:solidFill>
              </a:rPr>
              <a:t>Advanced</a:t>
            </a:r>
            <a:endParaRPr lang="en-US" sz="1900" dirty="0"/>
          </a:p>
        </p:txBody>
      </p:sp>
      <p:sp>
        <p:nvSpPr>
          <p:cNvPr id="7" name="Text 5"/>
          <p:cNvSpPr/>
          <p:nvPr/>
        </p:nvSpPr>
        <p:spPr>
          <a:xfrm>
            <a:off x="6492240" y="1783080"/>
            <a:ext cx="4389120" cy="2468880"/>
          </a:xfrm>
          <a:prstGeom prst="rect">
            <a:avLst/>
          </a:prstGeom>
          <a:noFill/>
          <a:ln/>
        </p:spPr>
        <p:txBody>
          <a:bodyPr wrap="square" lIns="1016" tIns="1016" rIns="1016" bIns="1016" rtlCol="0" anchor="ctr">
            <a:normAutofit/>
          </a:bodyPr>
          <a:lstStyle/>
          <a:p>
            <a:r>
              <a:rPr lang="en-US" sz="1600" dirty="0">
                <a:solidFill>
                  <a:srgbClr val="1A202C"/>
                </a:solidFill>
              </a:rPr>
              <a:t>--min-severity argument</a:t>
            </a:r>
            <a:endParaRPr lang="en-US" sz="1600" dirty="0"/>
          </a:p>
          <a:p>
            <a:r>
              <a:rPr lang="en-US" sz="1600" dirty="0">
                <a:solidFill>
                  <a:srgbClr val="1A202C"/>
                </a:solidFill>
              </a:rPr>
              <a:t>save summary.csv</a:t>
            </a:r>
            <a:endParaRPr lang="en-US" sz="1600" dirty="0"/>
          </a:p>
          <a:p>
            <a:r>
              <a:rPr lang="en-US" sz="1600" dirty="0">
                <a:solidFill>
                  <a:srgbClr val="1A202C"/>
                </a:solidFill>
              </a:rPr>
              <a:t>new pytest test</a:t>
            </a:r>
            <a:endParaRPr lang="en-US" sz="1600" dirty="0"/>
          </a:p>
          <a:p>
            <a:r>
              <a:rPr lang="en-US" sz="1600" dirty="0">
                <a:solidFill>
                  <a:srgbClr val="1A202C"/>
                </a:solidFill>
              </a:rPr>
              <a:t>use logging instead of print</a:t>
            </a:r>
            <a:endParaRPr lang="en-US" sz="1600" dirty="0"/>
          </a:p>
        </p:txBody>
      </p:sp>
      <p:sp>
        <p:nvSpPr>
          <p:cNvPr id="9" name="Text 6"/>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Verification checklist</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When do we say the component works?</a:t>
            </a:r>
            <a:endParaRPr lang="en-US" sz="1150" dirty="0"/>
          </a:p>
        </p:txBody>
      </p:sp>
      <p:sp>
        <p:nvSpPr>
          <p:cNvPr id="4" name="Shape 2"/>
          <p:cNvSpPr/>
          <p:nvPr/>
        </p:nvSpPr>
        <p:spPr>
          <a:xfrm>
            <a:off x="731520" y="1691640"/>
            <a:ext cx="2011680" cy="1234440"/>
          </a:xfrm>
          <a:prstGeom prst="roundRect">
            <a:avLst>
              <a:gd name="adj" fmla="val 5926"/>
            </a:avLst>
          </a:prstGeom>
          <a:solidFill>
            <a:srgbClr val="E6FFFA"/>
          </a:solidFill>
          <a:ln w="12700">
            <a:solidFill>
              <a:srgbClr val="CBD5E0">
                <a:alpha val="70000"/>
              </a:srgbClr>
            </a:solidFill>
            <a:prstDash val="solid"/>
          </a:ln>
        </p:spPr>
        <p:txBody>
          <a:bodyPr/>
          <a:lstStyle/>
          <a:p>
            <a:endParaRPr lang="hu-HU"/>
          </a:p>
        </p:txBody>
      </p:sp>
      <p:sp>
        <p:nvSpPr>
          <p:cNvPr id="5" name="Text 3"/>
          <p:cNvSpPr/>
          <p:nvPr/>
        </p:nvSpPr>
        <p:spPr>
          <a:xfrm>
            <a:off x="859536" y="1801368"/>
            <a:ext cx="1755648" cy="1014984"/>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1</a:t>
            </a:r>
            <a:endParaRPr lang="en-US" sz="1150" dirty="0"/>
          </a:p>
          <a:p>
            <a:pPr marL="0" indent="0" algn="ctr">
              <a:buNone/>
            </a:pPr>
            <a:r>
              <a:rPr lang="en-US" sz="1150" b="1" dirty="0">
                <a:solidFill>
                  <a:srgbClr val="1A202C"/>
                </a:solidFill>
              </a:rPr>
              <a:t>CLI runs</a:t>
            </a:r>
            <a:endParaRPr lang="en-US" sz="1150" dirty="0"/>
          </a:p>
          <a:p>
            <a:pPr marL="0" indent="0" algn="ctr">
              <a:buNone/>
            </a:pPr>
            <a:r>
              <a:rPr lang="en-US" sz="1150" b="1" dirty="0">
                <a:solidFill>
                  <a:srgbClr val="1A202C"/>
                </a:solidFill>
              </a:rPr>
              <a:t>no exception for normal input</a:t>
            </a:r>
            <a:endParaRPr lang="en-US" sz="1150" dirty="0"/>
          </a:p>
        </p:txBody>
      </p:sp>
      <p:sp>
        <p:nvSpPr>
          <p:cNvPr id="6" name="Shape 4"/>
          <p:cNvSpPr/>
          <p:nvPr/>
        </p:nvSpPr>
        <p:spPr>
          <a:xfrm>
            <a:off x="2971800" y="1691640"/>
            <a:ext cx="2011680" cy="1234440"/>
          </a:xfrm>
          <a:prstGeom prst="roundRect">
            <a:avLst>
              <a:gd name="adj" fmla="val 5926"/>
            </a:avLst>
          </a:prstGeom>
          <a:solidFill>
            <a:srgbClr val="EBF8FF"/>
          </a:solidFill>
          <a:ln w="12700">
            <a:solidFill>
              <a:srgbClr val="CBD5E0">
                <a:alpha val="70000"/>
              </a:srgbClr>
            </a:solidFill>
            <a:prstDash val="solid"/>
          </a:ln>
        </p:spPr>
        <p:txBody>
          <a:bodyPr/>
          <a:lstStyle/>
          <a:p>
            <a:endParaRPr lang="hu-HU"/>
          </a:p>
        </p:txBody>
      </p:sp>
      <p:sp>
        <p:nvSpPr>
          <p:cNvPr id="7" name="Text 5"/>
          <p:cNvSpPr/>
          <p:nvPr/>
        </p:nvSpPr>
        <p:spPr>
          <a:xfrm>
            <a:off x="3099816" y="1801368"/>
            <a:ext cx="1755648" cy="1014984"/>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2</a:t>
            </a:r>
            <a:endParaRPr lang="en-US" sz="1150" dirty="0"/>
          </a:p>
          <a:p>
            <a:pPr marL="0" indent="0" algn="ctr">
              <a:buNone/>
            </a:pPr>
            <a:r>
              <a:rPr lang="en-US" sz="1150" b="1" dirty="0">
                <a:solidFill>
                  <a:srgbClr val="1A202C"/>
                </a:solidFill>
              </a:rPr>
              <a:t>Output exists</a:t>
            </a:r>
            <a:endParaRPr lang="en-US" sz="1150" dirty="0"/>
          </a:p>
          <a:p>
            <a:pPr marL="0" indent="0" algn="ctr">
              <a:buNone/>
            </a:pPr>
            <a:r>
              <a:rPr lang="en-US" sz="1150" b="1" dirty="0">
                <a:solidFill>
                  <a:srgbClr val="1A202C"/>
                </a:solidFill>
              </a:rPr>
              <a:t>CSV has new columns</a:t>
            </a:r>
            <a:endParaRPr lang="en-US" sz="1150" dirty="0"/>
          </a:p>
        </p:txBody>
      </p:sp>
      <p:sp>
        <p:nvSpPr>
          <p:cNvPr id="8" name="Shape 6"/>
          <p:cNvSpPr/>
          <p:nvPr/>
        </p:nvSpPr>
        <p:spPr>
          <a:xfrm>
            <a:off x="5212080" y="1691640"/>
            <a:ext cx="2011680" cy="1234440"/>
          </a:xfrm>
          <a:prstGeom prst="roundRect">
            <a:avLst>
              <a:gd name="adj" fmla="val 5926"/>
            </a:avLst>
          </a:prstGeom>
          <a:solidFill>
            <a:srgbClr val="FEFCBF"/>
          </a:solidFill>
          <a:ln w="12700">
            <a:solidFill>
              <a:srgbClr val="CBD5E0">
                <a:alpha val="70000"/>
              </a:srgbClr>
            </a:solidFill>
            <a:prstDash val="solid"/>
          </a:ln>
        </p:spPr>
        <p:txBody>
          <a:bodyPr/>
          <a:lstStyle/>
          <a:p>
            <a:endParaRPr lang="hu-HU"/>
          </a:p>
        </p:txBody>
      </p:sp>
      <p:sp>
        <p:nvSpPr>
          <p:cNvPr id="9" name="Text 7"/>
          <p:cNvSpPr/>
          <p:nvPr/>
        </p:nvSpPr>
        <p:spPr>
          <a:xfrm>
            <a:off x="5340096" y="1801368"/>
            <a:ext cx="1755648" cy="1014984"/>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3</a:t>
            </a:r>
            <a:endParaRPr lang="en-US" sz="1150" dirty="0"/>
          </a:p>
          <a:p>
            <a:pPr marL="0" indent="0" algn="ctr">
              <a:buNone/>
            </a:pPr>
            <a:r>
              <a:rPr lang="en-US" sz="1150" b="1" dirty="0">
                <a:solidFill>
                  <a:srgbClr val="1A202C"/>
                </a:solidFill>
              </a:rPr>
              <a:t>Summary makes sense</a:t>
            </a:r>
            <a:endParaRPr lang="en-US" sz="1150" dirty="0"/>
          </a:p>
          <a:p>
            <a:pPr marL="0" indent="0" algn="ctr">
              <a:buNone/>
            </a:pPr>
            <a:r>
              <a:rPr lang="en-US" sz="1150" b="1" dirty="0">
                <a:solidFill>
                  <a:srgbClr val="1A202C"/>
                </a:solidFill>
              </a:rPr>
              <a:t>categories and counts</a:t>
            </a:r>
            <a:endParaRPr lang="en-US" sz="1150" dirty="0"/>
          </a:p>
        </p:txBody>
      </p:sp>
      <p:sp>
        <p:nvSpPr>
          <p:cNvPr id="10" name="Shape 8"/>
          <p:cNvSpPr/>
          <p:nvPr/>
        </p:nvSpPr>
        <p:spPr>
          <a:xfrm>
            <a:off x="7452360" y="1691640"/>
            <a:ext cx="2011680" cy="1234440"/>
          </a:xfrm>
          <a:prstGeom prst="roundRect">
            <a:avLst>
              <a:gd name="adj" fmla="val 5926"/>
            </a:avLst>
          </a:prstGeom>
          <a:solidFill>
            <a:srgbClr val="FEEBC8"/>
          </a:solidFill>
          <a:ln w="12700">
            <a:solidFill>
              <a:srgbClr val="CBD5E0">
                <a:alpha val="70000"/>
              </a:srgbClr>
            </a:solidFill>
            <a:prstDash val="solid"/>
          </a:ln>
        </p:spPr>
        <p:txBody>
          <a:bodyPr/>
          <a:lstStyle/>
          <a:p>
            <a:endParaRPr lang="hu-HU"/>
          </a:p>
        </p:txBody>
      </p:sp>
      <p:sp>
        <p:nvSpPr>
          <p:cNvPr id="11" name="Text 9"/>
          <p:cNvSpPr/>
          <p:nvPr/>
        </p:nvSpPr>
        <p:spPr>
          <a:xfrm>
            <a:off x="7580376" y="1801368"/>
            <a:ext cx="1755648" cy="1014984"/>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4</a:t>
            </a:r>
            <a:endParaRPr lang="en-US" sz="1150" dirty="0"/>
          </a:p>
          <a:p>
            <a:pPr marL="0" indent="0" algn="ctr">
              <a:buNone/>
            </a:pPr>
            <a:r>
              <a:rPr lang="en-US" sz="1150" b="1" dirty="0">
                <a:solidFill>
                  <a:srgbClr val="1A202C"/>
                </a:solidFill>
              </a:rPr>
              <a:t>Tests run</a:t>
            </a:r>
            <a:endParaRPr lang="en-US" sz="1150" dirty="0"/>
          </a:p>
          <a:p>
            <a:pPr marL="0" indent="0" algn="ctr">
              <a:buNone/>
            </a:pPr>
            <a:r>
              <a:rPr lang="en-US" sz="1150" b="1" dirty="0">
                <a:solidFill>
                  <a:srgbClr val="1A202C"/>
                </a:solidFill>
              </a:rPr>
              <a:t>failures lead to fixes</a:t>
            </a:r>
            <a:endParaRPr lang="en-US" sz="1150" dirty="0"/>
          </a:p>
        </p:txBody>
      </p:sp>
      <p:sp>
        <p:nvSpPr>
          <p:cNvPr id="12" name="Shape 10"/>
          <p:cNvSpPr/>
          <p:nvPr/>
        </p:nvSpPr>
        <p:spPr>
          <a:xfrm>
            <a:off x="9692640" y="1691640"/>
            <a:ext cx="2011680" cy="1234440"/>
          </a:xfrm>
          <a:prstGeom prst="roundRect">
            <a:avLst>
              <a:gd name="adj" fmla="val 5926"/>
            </a:avLst>
          </a:prstGeom>
          <a:solidFill>
            <a:srgbClr val="E9D8FD"/>
          </a:solidFill>
          <a:ln w="12700">
            <a:solidFill>
              <a:srgbClr val="CBD5E0">
                <a:alpha val="70000"/>
              </a:srgbClr>
            </a:solidFill>
            <a:prstDash val="solid"/>
          </a:ln>
        </p:spPr>
        <p:txBody>
          <a:bodyPr/>
          <a:lstStyle/>
          <a:p>
            <a:endParaRPr lang="hu-HU"/>
          </a:p>
        </p:txBody>
      </p:sp>
      <p:sp>
        <p:nvSpPr>
          <p:cNvPr id="13" name="Text 11"/>
          <p:cNvSpPr/>
          <p:nvPr/>
        </p:nvSpPr>
        <p:spPr>
          <a:xfrm>
            <a:off x="9820656" y="1801368"/>
            <a:ext cx="1755648" cy="1014984"/>
          </a:xfrm>
          <a:prstGeom prst="rect">
            <a:avLst/>
          </a:prstGeom>
          <a:noFill/>
          <a:ln/>
        </p:spPr>
        <p:txBody>
          <a:bodyPr wrap="square" lIns="254" tIns="254" rIns="254" bIns="254" rtlCol="0" anchor="ctr">
            <a:normAutofit/>
          </a:bodyPr>
          <a:lstStyle/>
          <a:p>
            <a:pPr marL="0" indent="0" algn="ctr">
              <a:buNone/>
            </a:pPr>
            <a:r>
              <a:rPr lang="en-US" sz="1150" b="1" dirty="0">
                <a:solidFill>
                  <a:srgbClr val="1A202C"/>
                </a:solidFill>
              </a:rPr>
              <a:t>5</a:t>
            </a:r>
            <a:endParaRPr lang="en-US" sz="1150" dirty="0"/>
          </a:p>
          <a:p>
            <a:pPr marL="0" indent="0" algn="ctr">
              <a:buNone/>
            </a:pPr>
            <a:r>
              <a:rPr lang="en-US" sz="1150" b="1" dirty="0">
                <a:solidFill>
                  <a:srgbClr val="1A202C"/>
                </a:solidFill>
              </a:rPr>
              <a:t>AI output checked</a:t>
            </a:r>
            <a:endParaRPr lang="en-US" sz="1150" dirty="0"/>
          </a:p>
          <a:p>
            <a:pPr marL="0" indent="0" algn="ctr">
              <a:buNone/>
            </a:pPr>
            <a:r>
              <a:rPr lang="en-US" sz="1150" b="1" dirty="0">
                <a:solidFill>
                  <a:srgbClr val="1A202C"/>
                </a:solidFill>
              </a:rPr>
              <a:t>not blindly accepted code</a:t>
            </a:r>
            <a:endParaRPr lang="en-US" sz="1150" dirty="0"/>
          </a:p>
        </p:txBody>
      </p:sp>
      <p:sp>
        <p:nvSpPr>
          <p:cNvPr id="14" name="Text 12"/>
          <p:cNvSpPr/>
          <p:nvPr/>
        </p:nvSpPr>
        <p:spPr>
          <a:xfrm>
            <a:off x="1005840" y="4572000"/>
            <a:ext cx="10058400" cy="594360"/>
          </a:xfrm>
          <a:prstGeom prst="rect">
            <a:avLst/>
          </a:prstGeom>
          <a:noFill/>
          <a:ln/>
        </p:spPr>
        <p:txBody>
          <a:bodyPr wrap="square" lIns="381" tIns="381" rIns="381" bIns="381" rtlCol="0" anchor="ctr">
            <a:normAutofit/>
          </a:bodyPr>
          <a:lstStyle/>
          <a:p>
            <a:pPr marL="0" indent="0" algn="ctr">
              <a:buNone/>
            </a:pPr>
            <a:r>
              <a:rPr lang="en-US" sz="2100" b="1" dirty="0">
                <a:solidFill>
                  <a:srgbClr val="1E2A44"/>
                </a:solidFill>
              </a:rPr>
              <a:t>Exit ticket: write one thing where AI helped, and one thing you had to verify yourself.</a:t>
            </a:r>
            <a:endParaRPr lang="en-US" sz="2100" dirty="0"/>
          </a:p>
        </p:txBody>
      </p:sp>
      <p:sp>
        <p:nvSpPr>
          <p:cNvPr id="16" name="Text 13"/>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47472"/>
            <a:ext cx="10881360" cy="502920"/>
          </a:xfrm>
          <a:prstGeom prst="rect">
            <a:avLst/>
          </a:prstGeom>
          <a:noFill/>
          <a:ln/>
        </p:spPr>
        <p:txBody>
          <a:bodyPr wrap="square" lIns="254" tIns="254" rIns="254" bIns="254" rtlCol="0" anchor="ctr">
            <a:normAutofit/>
          </a:bodyPr>
          <a:lstStyle/>
          <a:p>
            <a:pPr marL="0" indent="0">
              <a:buNone/>
            </a:pPr>
            <a:r>
              <a:rPr lang="en-US" sz="2500" b="1" dirty="0">
                <a:solidFill>
                  <a:srgbClr val="1E2A44"/>
                </a:solidFill>
                <a:latin typeface="Aptos Display" pitchFamily="34" charset="0"/>
                <a:ea typeface="Aptos Display" pitchFamily="34" charset="-122"/>
                <a:cs typeface="Aptos Display" pitchFamily="34" charset="-120"/>
              </a:rPr>
              <a:t>Connection to next week</a:t>
            </a:r>
            <a:endParaRPr lang="en-US" sz="2500" dirty="0"/>
          </a:p>
        </p:txBody>
      </p:sp>
      <p:sp>
        <p:nvSpPr>
          <p:cNvPr id="3" name="Text 1"/>
          <p:cNvSpPr/>
          <p:nvPr/>
        </p:nvSpPr>
        <p:spPr>
          <a:xfrm>
            <a:off x="530352" y="896112"/>
            <a:ext cx="10607040" cy="256032"/>
          </a:xfrm>
          <a:prstGeom prst="rect">
            <a:avLst/>
          </a:prstGeom>
          <a:noFill/>
          <a:ln/>
        </p:spPr>
        <p:txBody>
          <a:bodyPr wrap="square" lIns="254" tIns="254" rIns="254" bIns="254" rtlCol="0" anchor="ctr">
            <a:normAutofit/>
          </a:bodyPr>
          <a:lstStyle/>
          <a:p>
            <a:pPr marL="0" indent="0">
              <a:buNone/>
            </a:pPr>
            <a:r>
              <a:rPr lang="en-US" sz="1150" dirty="0">
                <a:solidFill>
                  <a:srgbClr val="4A5568"/>
                </a:solidFill>
              </a:rPr>
              <a:t>The same thinking, now through APIs.</a:t>
            </a:r>
            <a:endParaRPr lang="en-US" sz="1150" dirty="0"/>
          </a:p>
        </p:txBody>
      </p:sp>
      <p:sp>
        <p:nvSpPr>
          <p:cNvPr id="4" name="Shape 2"/>
          <p:cNvSpPr/>
          <p:nvPr/>
        </p:nvSpPr>
        <p:spPr>
          <a:xfrm>
            <a:off x="1005840" y="2011680"/>
            <a:ext cx="2926080" cy="1188720"/>
          </a:xfrm>
          <a:prstGeom prst="roundRect">
            <a:avLst>
              <a:gd name="adj" fmla="val 6154"/>
            </a:avLst>
          </a:prstGeom>
          <a:solidFill>
            <a:srgbClr val="E6FFFA"/>
          </a:solidFill>
          <a:ln w="12700">
            <a:solidFill>
              <a:srgbClr val="CBD5E0">
                <a:alpha val="70000"/>
              </a:srgbClr>
            </a:solidFill>
            <a:prstDash val="solid"/>
          </a:ln>
        </p:spPr>
        <p:txBody>
          <a:bodyPr/>
          <a:lstStyle/>
          <a:p>
            <a:endParaRPr lang="hu-HU"/>
          </a:p>
        </p:txBody>
      </p:sp>
      <p:sp>
        <p:nvSpPr>
          <p:cNvPr id="5" name="Text 3"/>
          <p:cNvSpPr/>
          <p:nvPr/>
        </p:nvSpPr>
        <p:spPr>
          <a:xfrm>
            <a:off x="1133856" y="2121408"/>
            <a:ext cx="2670048" cy="969264"/>
          </a:xfrm>
          <a:prstGeom prst="rect">
            <a:avLst/>
          </a:prstGeom>
          <a:noFill/>
          <a:ln/>
        </p:spPr>
        <p:txBody>
          <a:bodyPr wrap="square" lIns="254" tIns="254" rIns="254" bIns="254" rtlCol="0" anchor="ctr">
            <a:normAutofit/>
          </a:bodyPr>
          <a:lstStyle/>
          <a:p>
            <a:pPr marL="0" indent="0" algn="ctr">
              <a:buNone/>
            </a:pPr>
            <a:r>
              <a:rPr lang="en-US" sz="1600" b="1" dirty="0">
                <a:solidFill>
                  <a:srgbClr val="1A202C"/>
                </a:solidFill>
              </a:rPr>
              <a:t>Today</a:t>
            </a:r>
            <a:endParaRPr lang="en-US" sz="1600" dirty="0"/>
          </a:p>
          <a:p>
            <a:pPr marL="0" indent="0" algn="ctr">
              <a:buNone/>
            </a:pPr>
            <a:r>
              <a:rPr lang="en-US" sz="1600" b="1" dirty="0">
                <a:solidFill>
                  <a:srgbClr val="1A202C"/>
                </a:solidFill>
              </a:rPr>
              <a:t>Python component</a:t>
            </a:r>
            <a:endParaRPr lang="en-US" sz="1600" dirty="0"/>
          </a:p>
          <a:p>
            <a:pPr marL="0" indent="0" algn="ctr">
              <a:buNone/>
            </a:pPr>
            <a:r>
              <a:rPr lang="en-US" sz="1600" b="1" dirty="0">
                <a:solidFill>
                  <a:srgbClr val="1A202C"/>
                </a:solidFill>
              </a:rPr>
              <a:t>input → output</a:t>
            </a:r>
            <a:endParaRPr lang="en-US" sz="1600" dirty="0"/>
          </a:p>
        </p:txBody>
      </p:sp>
      <p:sp>
        <p:nvSpPr>
          <p:cNvPr id="6" name="Shape 4"/>
          <p:cNvSpPr/>
          <p:nvPr/>
        </p:nvSpPr>
        <p:spPr>
          <a:xfrm>
            <a:off x="4069080" y="2606040"/>
            <a:ext cx="960120" cy="0"/>
          </a:xfrm>
          <a:prstGeom prst="line">
            <a:avLst/>
          </a:prstGeom>
          <a:noFill/>
          <a:ln w="25400">
            <a:solidFill>
              <a:srgbClr val="0F766E"/>
            </a:solidFill>
            <a:prstDash val="solid"/>
            <a:headEnd type="none"/>
            <a:tailEnd type="triangle"/>
          </a:ln>
        </p:spPr>
        <p:txBody>
          <a:bodyPr/>
          <a:lstStyle/>
          <a:p>
            <a:endParaRPr lang="hu-HU"/>
          </a:p>
        </p:txBody>
      </p:sp>
      <p:sp>
        <p:nvSpPr>
          <p:cNvPr id="7" name="Shape 5"/>
          <p:cNvSpPr/>
          <p:nvPr/>
        </p:nvSpPr>
        <p:spPr>
          <a:xfrm>
            <a:off x="5166360" y="2011680"/>
            <a:ext cx="2926080" cy="1188720"/>
          </a:xfrm>
          <a:prstGeom prst="roundRect">
            <a:avLst>
              <a:gd name="adj" fmla="val 6154"/>
            </a:avLst>
          </a:prstGeom>
          <a:solidFill>
            <a:srgbClr val="EBF8FF"/>
          </a:solidFill>
          <a:ln w="12700">
            <a:solidFill>
              <a:srgbClr val="CBD5E0">
                <a:alpha val="70000"/>
              </a:srgbClr>
            </a:solidFill>
            <a:prstDash val="solid"/>
          </a:ln>
        </p:spPr>
        <p:txBody>
          <a:bodyPr/>
          <a:lstStyle/>
          <a:p>
            <a:endParaRPr lang="hu-HU"/>
          </a:p>
        </p:txBody>
      </p:sp>
      <p:sp>
        <p:nvSpPr>
          <p:cNvPr id="8" name="Text 6"/>
          <p:cNvSpPr/>
          <p:nvPr/>
        </p:nvSpPr>
        <p:spPr>
          <a:xfrm>
            <a:off x="5294376" y="2121408"/>
            <a:ext cx="2670048" cy="969264"/>
          </a:xfrm>
          <a:prstGeom prst="rect">
            <a:avLst/>
          </a:prstGeom>
          <a:noFill/>
          <a:ln/>
        </p:spPr>
        <p:txBody>
          <a:bodyPr wrap="square" lIns="254" tIns="254" rIns="254" bIns="254" rtlCol="0" anchor="ctr">
            <a:normAutofit/>
          </a:bodyPr>
          <a:lstStyle/>
          <a:p>
            <a:pPr marL="0" indent="0" algn="ctr">
              <a:buNone/>
            </a:pPr>
            <a:r>
              <a:rPr lang="en-US" sz="1600" b="1" dirty="0">
                <a:solidFill>
                  <a:srgbClr val="1A202C"/>
                </a:solidFill>
              </a:rPr>
              <a:t>Next week</a:t>
            </a:r>
            <a:endParaRPr lang="en-US" sz="1600" dirty="0"/>
          </a:p>
          <a:p>
            <a:pPr marL="0" indent="0" algn="ctr">
              <a:buNone/>
            </a:pPr>
            <a:r>
              <a:rPr lang="en-US" sz="1600" b="1" dirty="0">
                <a:solidFill>
                  <a:srgbClr val="1A202C"/>
                </a:solidFill>
              </a:rPr>
              <a:t>REST API</a:t>
            </a:r>
            <a:endParaRPr lang="en-US" sz="1600" dirty="0"/>
          </a:p>
          <a:p>
            <a:pPr marL="0" indent="0" algn="ctr">
              <a:buNone/>
            </a:pPr>
            <a:r>
              <a:rPr lang="en-US" sz="1600" b="1" dirty="0">
                <a:solidFill>
                  <a:srgbClr val="1A202C"/>
                </a:solidFill>
              </a:rPr>
              <a:t>request → response</a:t>
            </a:r>
            <a:endParaRPr lang="en-US" sz="1600" dirty="0"/>
          </a:p>
        </p:txBody>
      </p:sp>
      <p:sp>
        <p:nvSpPr>
          <p:cNvPr id="9" name="Shape 7"/>
          <p:cNvSpPr/>
          <p:nvPr/>
        </p:nvSpPr>
        <p:spPr>
          <a:xfrm>
            <a:off x="8229600" y="2606040"/>
            <a:ext cx="960120" cy="0"/>
          </a:xfrm>
          <a:prstGeom prst="line">
            <a:avLst/>
          </a:prstGeom>
          <a:noFill/>
          <a:ln w="25400">
            <a:solidFill>
              <a:srgbClr val="0F766E"/>
            </a:solidFill>
            <a:prstDash val="solid"/>
            <a:headEnd type="none"/>
            <a:tailEnd type="triangle"/>
          </a:ln>
        </p:spPr>
        <p:txBody>
          <a:bodyPr/>
          <a:lstStyle/>
          <a:p>
            <a:endParaRPr lang="hu-HU"/>
          </a:p>
        </p:txBody>
      </p:sp>
      <p:sp>
        <p:nvSpPr>
          <p:cNvPr id="10" name="Shape 8"/>
          <p:cNvSpPr/>
          <p:nvPr/>
        </p:nvSpPr>
        <p:spPr>
          <a:xfrm>
            <a:off x="9326880" y="2011680"/>
            <a:ext cx="2057400" cy="1188720"/>
          </a:xfrm>
          <a:prstGeom prst="roundRect">
            <a:avLst>
              <a:gd name="adj" fmla="val 6154"/>
            </a:avLst>
          </a:prstGeom>
          <a:solidFill>
            <a:srgbClr val="FEFCBF"/>
          </a:solidFill>
          <a:ln w="12700">
            <a:solidFill>
              <a:srgbClr val="CBD5E0">
                <a:alpha val="70000"/>
              </a:srgbClr>
            </a:solidFill>
            <a:prstDash val="solid"/>
          </a:ln>
        </p:spPr>
        <p:txBody>
          <a:bodyPr/>
          <a:lstStyle/>
          <a:p>
            <a:endParaRPr lang="hu-HU"/>
          </a:p>
        </p:txBody>
      </p:sp>
      <p:sp>
        <p:nvSpPr>
          <p:cNvPr id="11" name="Text 9"/>
          <p:cNvSpPr/>
          <p:nvPr/>
        </p:nvSpPr>
        <p:spPr>
          <a:xfrm>
            <a:off x="9454896" y="2121408"/>
            <a:ext cx="1801368" cy="969264"/>
          </a:xfrm>
          <a:prstGeom prst="rect">
            <a:avLst/>
          </a:prstGeom>
          <a:noFill/>
          <a:ln/>
        </p:spPr>
        <p:txBody>
          <a:bodyPr wrap="square" lIns="254" tIns="254" rIns="254" bIns="254" rtlCol="0" anchor="ctr">
            <a:normAutofit/>
          </a:bodyPr>
          <a:lstStyle/>
          <a:p>
            <a:pPr marL="0" indent="0" algn="ctr">
              <a:buNone/>
            </a:pPr>
            <a:r>
              <a:rPr lang="en-US" sz="1300" b="1" dirty="0">
                <a:solidFill>
                  <a:srgbClr val="1A202C"/>
                </a:solidFill>
              </a:rPr>
              <a:t>Later</a:t>
            </a:r>
            <a:endParaRPr lang="en-US" sz="1300" dirty="0"/>
          </a:p>
          <a:p>
            <a:pPr marL="0" indent="0" algn="ctr">
              <a:buNone/>
            </a:pPr>
            <a:r>
              <a:rPr lang="en-US" sz="1300" b="1" dirty="0">
                <a:solidFill>
                  <a:srgbClr val="1A202C"/>
                </a:solidFill>
              </a:rPr>
              <a:t>Power Platform</a:t>
            </a:r>
            <a:endParaRPr lang="en-US" sz="1300" dirty="0"/>
          </a:p>
          <a:p>
            <a:pPr marL="0" indent="0" algn="ctr">
              <a:buNone/>
            </a:pPr>
            <a:r>
              <a:rPr lang="en-US" sz="1300" b="1" dirty="0">
                <a:solidFill>
                  <a:srgbClr val="1A202C"/>
                </a:solidFill>
              </a:rPr>
              <a:t>connector → flow/app</a:t>
            </a:r>
            <a:endParaRPr lang="en-US" sz="1300" dirty="0"/>
          </a:p>
        </p:txBody>
      </p:sp>
      <p:sp>
        <p:nvSpPr>
          <p:cNvPr id="12" name="Text 10"/>
          <p:cNvSpPr/>
          <p:nvPr/>
        </p:nvSpPr>
        <p:spPr>
          <a:xfrm>
            <a:off x="1143000" y="4297680"/>
            <a:ext cx="9875520" cy="530352"/>
          </a:xfrm>
          <a:prstGeom prst="rect">
            <a:avLst/>
          </a:prstGeom>
          <a:noFill/>
          <a:ln/>
        </p:spPr>
        <p:txBody>
          <a:bodyPr wrap="square" lIns="381" tIns="381" rIns="381" bIns="381" rtlCol="0" anchor="ctr">
            <a:normAutofit/>
          </a:bodyPr>
          <a:lstStyle/>
          <a:p>
            <a:pPr marL="0" indent="0" algn="ctr">
              <a:buNone/>
            </a:pPr>
            <a:r>
              <a:rPr lang="en-US" sz="2000" b="1" dirty="0">
                <a:solidFill>
                  <a:srgbClr val="1E2A44"/>
                </a:solidFill>
              </a:rPr>
              <a:t>Technically, we start from a new starter package. Conceptually, we continue with contracts, structured data, and error handling.</a:t>
            </a:r>
            <a:endParaRPr lang="en-US" sz="2000" dirty="0"/>
          </a:p>
        </p:txBody>
      </p:sp>
      <p:sp>
        <p:nvSpPr>
          <p:cNvPr id="14" name="Text 11"/>
          <p:cNvSpPr/>
          <p:nvPr/>
        </p:nvSpPr>
        <p:spPr>
          <a:xfrm>
            <a:off x="502920" y="6510528"/>
            <a:ext cx="11155680" cy="201168"/>
          </a:xfrm>
          <a:prstGeom prst="rect">
            <a:avLst/>
          </a:prstGeom>
          <a:noFill/>
          <a:ln/>
        </p:spPr>
        <p:txBody>
          <a:bodyPr wrap="square" lIns="0" tIns="0" rIns="0" bIns="0" rtlCol="0" anchor="ctr"/>
          <a:lstStyle/>
          <a:p>
            <a:pPr marL="0" indent="0">
              <a:buNone/>
            </a:pPr>
            <a:r>
              <a:rPr lang="en-US" sz="850" dirty="0">
                <a:solidFill>
                  <a:srgbClr val="718096"/>
                </a:solidFill>
                <a:latin typeface="Aptos" pitchFamily="34" charset="0"/>
                <a:ea typeface="Aptos" pitchFamily="34" charset="-122"/>
                <a:cs typeface="Aptos" pitchFamily="34" charset="-120"/>
              </a:rPr>
              <a:t>Data-driven Application Development | Week 1 | 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1388</Words>
  <Application>Microsoft Office PowerPoint</Application>
  <PresentationFormat>Szélesvásznú</PresentationFormat>
  <Paragraphs>207</Paragraphs>
  <Slides>13</Slides>
  <Notes>13</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13</vt:i4>
      </vt:variant>
    </vt:vector>
  </HeadingPairs>
  <TitlesOfParts>
    <vt:vector size="18" baseType="lpstr">
      <vt:lpstr>Aptos</vt:lpstr>
      <vt:lpstr>Aptos Display</vt:lpstr>
      <vt:lpstr>Arial</vt:lpstr>
      <vt:lpstr>Courier New</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From analytical code to application component</dc:title>
  <dc:subject>Data-driven application development - Week 1</dc:subject>
  <dc:creator>OpenAI</dc:creator>
  <cp:lastModifiedBy>Beregi-Kovács Marcell</cp:lastModifiedBy>
  <cp:revision>2</cp:revision>
  <dcterms:created xsi:type="dcterms:W3CDTF">2026-09-03T08:27:42Z</dcterms:created>
  <dcterms:modified xsi:type="dcterms:W3CDTF">2026-09-09T08:43:16Z</dcterms:modified>
</cp:coreProperties>
</file>